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Extenda 90 Exa" panose="020B0604020202020204" charset="0"/>
      <p:regular r:id="rId12"/>
    </p:embeddedFont>
    <p:embeddedFont>
      <p:font typeface="TT Fors" panose="020B0604020202020204" charset="0"/>
      <p:regular r:id="rId13"/>
    </p:embeddedFont>
    <p:embeddedFont>
      <p:font typeface="TT Fors Bold"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5" d="100"/>
          <a:sy n="55" d="100"/>
        </p:scale>
        <p:origin x="590" y="-51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57DD54-4E92-40E1-9275-C6E9D88C2172}" type="datetimeFigureOut">
              <a:rPr lang="en-GB" smtClean="0"/>
              <a:t>22/10/2026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C0AFD4-3E6A-42AE-9EE0-1FF4253B30B2}" type="slidenum">
              <a:rPr lang="en-GB" smtClean="0"/>
              <a:t>‹#›</a:t>
            </a:fld>
            <a:endParaRPr lang="en-GB"/>
          </a:p>
        </p:txBody>
      </p:sp>
    </p:spTree>
    <p:extLst>
      <p:ext uri="{BB962C8B-B14F-4D97-AF65-F5344CB8AC3E}">
        <p14:creationId xmlns:p14="http://schemas.microsoft.com/office/powerpoint/2010/main" val="1972785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DC0AFD4-3E6A-42AE-9EE0-1FF4253B30B2}" type="slidenum">
              <a:rPr lang="en-GB" smtClean="0"/>
              <a:t>3</a:t>
            </a:fld>
            <a:endParaRPr lang="en-GB"/>
          </a:p>
        </p:txBody>
      </p:sp>
    </p:spTree>
    <p:extLst>
      <p:ext uri="{BB962C8B-B14F-4D97-AF65-F5344CB8AC3E}">
        <p14:creationId xmlns:p14="http://schemas.microsoft.com/office/powerpoint/2010/main" val="36434074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DC0AFD4-3E6A-42AE-9EE0-1FF4253B30B2}" type="slidenum">
              <a:rPr lang="en-GB" smtClean="0"/>
              <a:t>6</a:t>
            </a:fld>
            <a:endParaRPr lang="en-GB"/>
          </a:p>
        </p:txBody>
      </p:sp>
    </p:spTree>
    <p:extLst>
      <p:ext uri="{BB962C8B-B14F-4D97-AF65-F5344CB8AC3E}">
        <p14:creationId xmlns:p14="http://schemas.microsoft.com/office/powerpoint/2010/main" val="23931513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slideLayout" Target="../slideLayouts/slideLayout7.xml"/><Relationship Id="rId1" Type="http://schemas.openxmlformats.org/officeDocument/2006/relationships/themeOverride" Target="../theme/themeOverride1.xml"/><Relationship Id="rId5" Type="http://schemas.openxmlformats.org/officeDocument/2006/relationships/image" Target="../media/image3.sv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sv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1EDE2"/>
        </a:solidFill>
        <a:effectLst/>
      </p:bgPr>
    </p:bg>
    <p:spTree>
      <p:nvGrpSpPr>
        <p:cNvPr id="1" name=""/>
        <p:cNvGrpSpPr/>
        <p:nvPr/>
      </p:nvGrpSpPr>
      <p:grpSpPr>
        <a:xfrm>
          <a:off x="0" y="0"/>
          <a:ext cx="0" cy="0"/>
          <a:chOff x="0" y="0"/>
          <a:chExt cx="0" cy="0"/>
        </a:xfrm>
      </p:grpSpPr>
      <p:grpSp>
        <p:nvGrpSpPr>
          <p:cNvPr id="2" name="Group 2"/>
          <p:cNvGrpSpPr/>
          <p:nvPr/>
        </p:nvGrpSpPr>
        <p:grpSpPr>
          <a:xfrm>
            <a:off x="-1157944" y="-105340"/>
            <a:ext cx="21517324" cy="10758662"/>
            <a:chOff x="0" y="0"/>
            <a:chExt cx="28689765" cy="14344882"/>
          </a:xfrm>
        </p:grpSpPr>
        <p:sp>
          <p:nvSpPr>
            <p:cNvPr id="3" name="Freeform 3"/>
            <p:cNvSpPr/>
            <p:nvPr/>
          </p:nvSpPr>
          <p:spPr>
            <a:xfrm>
              <a:off x="0" y="0"/>
              <a:ext cx="7172441" cy="7172441"/>
            </a:xfrm>
            <a:custGeom>
              <a:avLst/>
              <a:gdLst/>
              <a:ahLst/>
              <a:cxnLst/>
              <a:rect l="l" t="t" r="r" b="b"/>
              <a:pathLst>
                <a:path w="7172441" h="7172441">
                  <a:moveTo>
                    <a:pt x="0" y="0"/>
                  </a:moveTo>
                  <a:lnTo>
                    <a:pt x="7172441" y="0"/>
                  </a:lnTo>
                  <a:lnTo>
                    <a:pt x="7172441" y="7172441"/>
                  </a:lnTo>
                  <a:lnTo>
                    <a:pt x="0" y="7172441"/>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txBody>
            <a:bodyPr/>
            <a:lstStyle/>
            <a:p>
              <a:endParaRPr lang="en-GB"/>
            </a:p>
          </p:txBody>
        </p:sp>
        <p:sp>
          <p:nvSpPr>
            <p:cNvPr id="4" name="Freeform 4"/>
            <p:cNvSpPr/>
            <p:nvPr/>
          </p:nvSpPr>
          <p:spPr>
            <a:xfrm>
              <a:off x="0" y="7172441"/>
              <a:ext cx="7172441" cy="7172441"/>
            </a:xfrm>
            <a:custGeom>
              <a:avLst/>
              <a:gdLst/>
              <a:ahLst/>
              <a:cxnLst/>
              <a:rect l="l" t="t" r="r" b="b"/>
              <a:pathLst>
                <a:path w="7172441" h="7172441">
                  <a:moveTo>
                    <a:pt x="0" y="0"/>
                  </a:moveTo>
                  <a:lnTo>
                    <a:pt x="7172441" y="0"/>
                  </a:lnTo>
                  <a:lnTo>
                    <a:pt x="7172441" y="7172441"/>
                  </a:lnTo>
                  <a:lnTo>
                    <a:pt x="0" y="7172441"/>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txBody>
            <a:bodyPr/>
            <a:lstStyle/>
            <a:p>
              <a:endParaRPr lang="en-GB"/>
            </a:p>
          </p:txBody>
        </p:sp>
        <p:sp>
          <p:nvSpPr>
            <p:cNvPr id="5" name="Freeform 5"/>
            <p:cNvSpPr/>
            <p:nvPr/>
          </p:nvSpPr>
          <p:spPr>
            <a:xfrm>
              <a:off x="7172441" y="0"/>
              <a:ext cx="7172441" cy="7172441"/>
            </a:xfrm>
            <a:custGeom>
              <a:avLst/>
              <a:gdLst/>
              <a:ahLst/>
              <a:cxnLst/>
              <a:rect l="l" t="t" r="r" b="b"/>
              <a:pathLst>
                <a:path w="7172441" h="7172441">
                  <a:moveTo>
                    <a:pt x="0" y="0"/>
                  </a:moveTo>
                  <a:lnTo>
                    <a:pt x="7172441" y="0"/>
                  </a:lnTo>
                  <a:lnTo>
                    <a:pt x="7172441" y="7172441"/>
                  </a:lnTo>
                  <a:lnTo>
                    <a:pt x="0" y="7172441"/>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txBody>
            <a:bodyPr/>
            <a:lstStyle/>
            <a:p>
              <a:endParaRPr lang="en-GB"/>
            </a:p>
          </p:txBody>
        </p:sp>
        <p:sp>
          <p:nvSpPr>
            <p:cNvPr id="6" name="Freeform 6"/>
            <p:cNvSpPr/>
            <p:nvPr/>
          </p:nvSpPr>
          <p:spPr>
            <a:xfrm>
              <a:off x="7172441" y="7172441"/>
              <a:ext cx="7172441" cy="7172441"/>
            </a:xfrm>
            <a:custGeom>
              <a:avLst/>
              <a:gdLst/>
              <a:ahLst/>
              <a:cxnLst/>
              <a:rect l="l" t="t" r="r" b="b"/>
              <a:pathLst>
                <a:path w="7172441" h="7172441">
                  <a:moveTo>
                    <a:pt x="0" y="0"/>
                  </a:moveTo>
                  <a:lnTo>
                    <a:pt x="7172441" y="0"/>
                  </a:lnTo>
                  <a:lnTo>
                    <a:pt x="7172441" y="7172441"/>
                  </a:lnTo>
                  <a:lnTo>
                    <a:pt x="0" y="7172441"/>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txBody>
            <a:bodyPr/>
            <a:lstStyle/>
            <a:p>
              <a:endParaRPr lang="en-GB"/>
            </a:p>
          </p:txBody>
        </p:sp>
        <p:sp>
          <p:nvSpPr>
            <p:cNvPr id="7" name="Freeform 7"/>
            <p:cNvSpPr/>
            <p:nvPr/>
          </p:nvSpPr>
          <p:spPr>
            <a:xfrm>
              <a:off x="14344882" y="0"/>
              <a:ext cx="7172441" cy="7172441"/>
            </a:xfrm>
            <a:custGeom>
              <a:avLst/>
              <a:gdLst/>
              <a:ahLst/>
              <a:cxnLst/>
              <a:rect l="l" t="t" r="r" b="b"/>
              <a:pathLst>
                <a:path w="7172441" h="7172441">
                  <a:moveTo>
                    <a:pt x="0" y="0"/>
                  </a:moveTo>
                  <a:lnTo>
                    <a:pt x="7172442" y="0"/>
                  </a:lnTo>
                  <a:lnTo>
                    <a:pt x="7172442" y="7172441"/>
                  </a:lnTo>
                  <a:lnTo>
                    <a:pt x="0" y="7172441"/>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txBody>
            <a:bodyPr/>
            <a:lstStyle/>
            <a:p>
              <a:endParaRPr lang="en-GB"/>
            </a:p>
          </p:txBody>
        </p:sp>
        <p:sp>
          <p:nvSpPr>
            <p:cNvPr id="8" name="Freeform 8"/>
            <p:cNvSpPr/>
            <p:nvPr/>
          </p:nvSpPr>
          <p:spPr>
            <a:xfrm>
              <a:off x="14344882" y="7172441"/>
              <a:ext cx="7172441" cy="7172441"/>
            </a:xfrm>
            <a:custGeom>
              <a:avLst/>
              <a:gdLst/>
              <a:ahLst/>
              <a:cxnLst/>
              <a:rect l="l" t="t" r="r" b="b"/>
              <a:pathLst>
                <a:path w="7172441" h="7172441">
                  <a:moveTo>
                    <a:pt x="0" y="0"/>
                  </a:moveTo>
                  <a:lnTo>
                    <a:pt x="7172442" y="0"/>
                  </a:lnTo>
                  <a:lnTo>
                    <a:pt x="7172442" y="7172441"/>
                  </a:lnTo>
                  <a:lnTo>
                    <a:pt x="0" y="7172441"/>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txBody>
            <a:bodyPr/>
            <a:lstStyle/>
            <a:p>
              <a:endParaRPr lang="en-GB"/>
            </a:p>
          </p:txBody>
        </p:sp>
        <p:sp>
          <p:nvSpPr>
            <p:cNvPr id="9" name="Freeform 9"/>
            <p:cNvSpPr/>
            <p:nvPr/>
          </p:nvSpPr>
          <p:spPr>
            <a:xfrm>
              <a:off x="21517324" y="0"/>
              <a:ext cx="7172441" cy="7172441"/>
            </a:xfrm>
            <a:custGeom>
              <a:avLst/>
              <a:gdLst/>
              <a:ahLst/>
              <a:cxnLst/>
              <a:rect l="l" t="t" r="r" b="b"/>
              <a:pathLst>
                <a:path w="7172441" h="7172441">
                  <a:moveTo>
                    <a:pt x="0" y="0"/>
                  </a:moveTo>
                  <a:lnTo>
                    <a:pt x="7172441" y="0"/>
                  </a:lnTo>
                  <a:lnTo>
                    <a:pt x="7172441" y="7172441"/>
                  </a:lnTo>
                  <a:lnTo>
                    <a:pt x="0" y="7172441"/>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txBody>
            <a:bodyPr/>
            <a:lstStyle/>
            <a:p>
              <a:endParaRPr lang="en-GB"/>
            </a:p>
          </p:txBody>
        </p:sp>
        <p:sp>
          <p:nvSpPr>
            <p:cNvPr id="10" name="Freeform 10"/>
            <p:cNvSpPr/>
            <p:nvPr/>
          </p:nvSpPr>
          <p:spPr>
            <a:xfrm>
              <a:off x="21517324" y="7172441"/>
              <a:ext cx="7172441" cy="7172441"/>
            </a:xfrm>
            <a:custGeom>
              <a:avLst/>
              <a:gdLst/>
              <a:ahLst/>
              <a:cxnLst/>
              <a:rect l="l" t="t" r="r" b="b"/>
              <a:pathLst>
                <a:path w="7172441" h="7172441">
                  <a:moveTo>
                    <a:pt x="0" y="0"/>
                  </a:moveTo>
                  <a:lnTo>
                    <a:pt x="7172441" y="0"/>
                  </a:lnTo>
                  <a:lnTo>
                    <a:pt x="7172441" y="7172441"/>
                  </a:lnTo>
                  <a:lnTo>
                    <a:pt x="0" y="7172441"/>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txBody>
            <a:bodyPr/>
            <a:lstStyle/>
            <a:p>
              <a:endParaRPr lang="en-GB"/>
            </a:p>
          </p:txBody>
        </p:sp>
      </p:grpSp>
      <p:sp>
        <p:nvSpPr>
          <p:cNvPr id="11" name="TextBox 11"/>
          <p:cNvSpPr txBox="1"/>
          <p:nvPr/>
        </p:nvSpPr>
        <p:spPr>
          <a:xfrm>
            <a:off x="3083728" y="805320"/>
            <a:ext cx="11662418" cy="5909310"/>
          </a:xfrm>
          <a:prstGeom prst="rect">
            <a:avLst/>
          </a:prstGeom>
        </p:spPr>
        <p:txBody>
          <a:bodyPr lIns="0" tIns="0" rIns="0" bIns="0" rtlCol="0" anchor="t">
            <a:spAutoFit/>
          </a:bodyPr>
          <a:lstStyle/>
          <a:p>
            <a:pPr algn="ctr">
              <a:lnSpc>
                <a:spcPct val="100000"/>
              </a:lnSpc>
            </a:pPr>
            <a:r>
              <a:rPr lang="en-GB" sz="9600" b="1" dirty="0">
                <a:solidFill>
                  <a:schemeClr val="tx1">
                    <a:lumMod val="75000"/>
                    <a:lumOff val="25000"/>
                  </a:schemeClr>
                </a:solidFill>
                <a:latin typeface="Extenda 90 Exa" panose="020B0604020202020204" charset="0"/>
              </a:rPr>
              <a:t>Hive Minds and Boids : Multi-Agent Warehouse Routing</a:t>
            </a:r>
            <a:endParaRPr lang="en-US" sz="9600" b="1" dirty="0">
              <a:solidFill>
                <a:schemeClr val="tx1">
                  <a:lumMod val="75000"/>
                  <a:lumOff val="25000"/>
                </a:schemeClr>
              </a:solidFill>
              <a:latin typeface="Extenda 90 Exa" panose="020B0604020202020204" charset="0"/>
              <a:sym typeface="Extenda 90 Exa"/>
            </a:endParaRPr>
          </a:p>
        </p:txBody>
      </p:sp>
      <p:grpSp>
        <p:nvGrpSpPr>
          <p:cNvPr id="12" name="Group 12"/>
          <p:cNvGrpSpPr/>
          <p:nvPr/>
        </p:nvGrpSpPr>
        <p:grpSpPr>
          <a:xfrm>
            <a:off x="15066413" y="683012"/>
            <a:ext cx="2065807" cy="749445"/>
            <a:chOff x="0" y="0"/>
            <a:chExt cx="1120221" cy="406400"/>
          </a:xfrm>
        </p:grpSpPr>
        <p:sp>
          <p:nvSpPr>
            <p:cNvPr id="13" name="Freeform 13"/>
            <p:cNvSpPr/>
            <p:nvPr/>
          </p:nvSpPr>
          <p:spPr>
            <a:xfrm>
              <a:off x="0" y="0"/>
              <a:ext cx="1120221" cy="406400"/>
            </a:xfrm>
            <a:custGeom>
              <a:avLst/>
              <a:gdLst/>
              <a:ahLst/>
              <a:cxnLst/>
              <a:rect l="l" t="t" r="r" b="b"/>
              <a:pathLst>
                <a:path w="1120221" h="406400">
                  <a:moveTo>
                    <a:pt x="917021" y="0"/>
                  </a:moveTo>
                  <a:cubicBezTo>
                    <a:pt x="1029246" y="0"/>
                    <a:pt x="1120221" y="90976"/>
                    <a:pt x="1120221" y="203200"/>
                  </a:cubicBezTo>
                  <a:cubicBezTo>
                    <a:pt x="1120221" y="315424"/>
                    <a:pt x="1029246" y="406400"/>
                    <a:pt x="917021" y="406400"/>
                  </a:cubicBezTo>
                  <a:lnTo>
                    <a:pt x="203200" y="406400"/>
                  </a:lnTo>
                  <a:cubicBezTo>
                    <a:pt x="90976" y="406400"/>
                    <a:pt x="0" y="315424"/>
                    <a:pt x="0" y="203200"/>
                  </a:cubicBezTo>
                  <a:cubicBezTo>
                    <a:pt x="0" y="90976"/>
                    <a:pt x="90976" y="0"/>
                    <a:pt x="203200" y="0"/>
                  </a:cubicBezTo>
                  <a:close/>
                </a:path>
              </a:pathLst>
            </a:custGeom>
            <a:solidFill>
              <a:srgbClr val="343434"/>
            </a:solidFill>
          </p:spPr>
          <p:txBody>
            <a:bodyPr/>
            <a:lstStyle/>
            <a:p>
              <a:endParaRPr lang="en-GB"/>
            </a:p>
          </p:txBody>
        </p:sp>
        <p:sp>
          <p:nvSpPr>
            <p:cNvPr id="14" name="TextBox 14"/>
            <p:cNvSpPr txBox="1"/>
            <p:nvPr/>
          </p:nvSpPr>
          <p:spPr>
            <a:xfrm>
              <a:off x="0" y="-38100"/>
              <a:ext cx="1120221" cy="444500"/>
            </a:xfrm>
            <a:prstGeom prst="rect">
              <a:avLst/>
            </a:prstGeom>
          </p:spPr>
          <p:txBody>
            <a:bodyPr lIns="50800" tIns="50800" rIns="50800" bIns="50800" rtlCol="0" anchor="ctr"/>
            <a:lstStyle/>
            <a:p>
              <a:pPr algn="ctr">
                <a:lnSpc>
                  <a:spcPts val="2659"/>
                </a:lnSpc>
              </a:pPr>
              <a:endParaRPr/>
            </a:p>
          </p:txBody>
        </p:sp>
      </p:grpSp>
      <p:sp>
        <p:nvSpPr>
          <p:cNvPr id="15" name="Freeform 15"/>
          <p:cNvSpPr/>
          <p:nvPr/>
        </p:nvSpPr>
        <p:spPr>
          <a:xfrm>
            <a:off x="13003521" y="4482370"/>
            <a:ext cx="1838981" cy="1765422"/>
          </a:xfrm>
          <a:custGeom>
            <a:avLst/>
            <a:gdLst/>
            <a:ahLst/>
            <a:cxnLst/>
            <a:rect l="l" t="t" r="r" b="b"/>
            <a:pathLst>
              <a:path w="1838981" h="1765422">
                <a:moveTo>
                  <a:pt x="0" y="0"/>
                </a:moveTo>
                <a:lnTo>
                  <a:pt x="1838981" y="0"/>
                </a:lnTo>
                <a:lnTo>
                  <a:pt x="1838981" y="1765421"/>
                </a:lnTo>
                <a:lnTo>
                  <a:pt x="0" y="17654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GB"/>
          </a:p>
        </p:txBody>
      </p:sp>
      <p:sp>
        <p:nvSpPr>
          <p:cNvPr id="16" name="Freeform 16"/>
          <p:cNvSpPr/>
          <p:nvPr/>
        </p:nvSpPr>
        <p:spPr>
          <a:xfrm>
            <a:off x="2208392" y="456858"/>
            <a:ext cx="1322898" cy="1418312"/>
          </a:xfrm>
          <a:custGeom>
            <a:avLst/>
            <a:gdLst/>
            <a:ahLst/>
            <a:cxnLst/>
            <a:rect l="l" t="t" r="r" b="b"/>
            <a:pathLst>
              <a:path w="1322898" h="1418312">
                <a:moveTo>
                  <a:pt x="0" y="0"/>
                </a:moveTo>
                <a:lnTo>
                  <a:pt x="1322898" y="0"/>
                </a:lnTo>
                <a:lnTo>
                  <a:pt x="1322898" y="1418311"/>
                </a:lnTo>
                <a:lnTo>
                  <a:pt x="0" y="141831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GB"/>
          </a:p>
        </p:txBody>
      </p:sp>
      <p:sp>
        <p:nvSpPr>
          <p:cNvPr id="17" name="TextBox 17"/>
          <p:cNvSpPr txBox="1"/>
          <p:nvPr/>
        </p:nvSpPr>
        <p:spPr>
          <a:xfrm>
            <a:off x="15425164" y="837629"/>
            <a:ext cx="1094217" cy="410718"/>
          </a:xfrm>
          <a:prstGeom prst="rect">
            <a:avLst/>
          </a:prstGeom>
        </p:spPr>
        <p:txBody>
          <a:bodyPr lIns="0" tIns="0" rIns="0" bIns="0" rtlCol="0" anchor="t">
            <a:spAutoFit/>
          </a:bodyPr>
          <a:lstStyle/>
          <a:p>
            <a:pPr algn="l">
              <a:lnSpc>
                <a:spcPts val="3275"/>
              </a:lnSpc>
            </a:pPr>
            <a:r>
              <a:rPr lang="en-US" sz="2799" b="1">
                <a:solidFill>
                  <a:srgbClr val="FFFFFF"/>
                </a:solidFill>
                <a:latin typeface="TT Fors Bold"/>
                <a:ea typeface="TT Fors Bold"/>
                <a:cs typeface="TT Fors Bold"/>
                <a:sym typeface="TT Fors Bold"/>
              </a:rPr>
              <a:t>Page</a:t>
            </a:r>
          </a:p>
        </p:txBody>
      </p:sp>
      <p:grpSp>
        <p:nvGrpSpPr>
          <p:cNvPr id="18" name="Group 18"/>
          <p:cNvGrpSpPr/>
          <p:nvPr/>
        </p:nvGrpSpPr>
        <p:grpSpPr>
          <a:xfrm>
            <a:off x="16543936" y="646641"/>
            <a:ext cx="822187" cy="822187"/>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3E61"/>
            </a:solidFill>
          </p:spPr>
          <p:txBody>
            <a:bodyPr/>
            <a:lstStyle/>
            <a:p>
              <a:endParaRPr lang="en-GB"/>
            </a:p>
          </p:txBody>
        </p:sp>
        <p:sp>
          <p:nvSpPr>
            <p:cNvPr id="20" name="TextBox 2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1" name="TextBox 21"/>
          <p:cNvSpPr txBox="1"/>
          <p:nvPr/>
        </p:nvSpPr>
        <p:spPr>
          <a:xfrm>
            <a:off x="16572511" y="818579"/>
            <a:ext cx="749445" cy="547116"/>
          </a:xfrm>
          <a:prstGeom prst="rect">
            <a:avLst/>
          </a:prstGeom>
        </p:spPr>
        <p:txBody>
          <a:bodyPr lIns="0" tIns="0" rIns="0" bIns="0" rtlCol="0" anchor="t">
            <a:spAutoFit/>
          </a:bodyPr>
          <a:lstStyle/>
          <a:p>
            <a:pPr algn="ctr">
              <a:lnSpc>
                <a:spcPts val="4211"/>
              </a:lnSpc>
            </a:pPr>
            <a:r>
              <a:rPr lang="en-US" sz="3599">
                <a:solidFill>
                  <a:srgbClr val="FFFFFF"/>
                </a:solidFill>
                <a:latin typeface="Extenda 90 Exa"/>
                <a:ea typeface="Extenda 90 Exa"/>
                <a:cs typeface="Extenda 90 Exa"/>
                <a:sym typeface="Extenda 90 Exa"/>
              </a:rPr>
              <a:t>01</a:t>
            </a:r>
          </a:p>
        </p:txBody>
      </p:sp>
      <p:grpSp>
        <p:nvGrpSpPr>
          <p:cNvPr id="22" name="Group 22"/>
          <p:cNvGrpSpPr/>
          <p:nvPr/>
        </p:nvGrpSpPr>
        <p:grpSpPr>
          <a:xfrm>
            <a:off x="4898224" y="7467133"/>
            <a:ext cx="7392159" cy="2673809"/>
            <a:chOff x="0" y="-57150"/>
            <a:chExt cx="7925812" cy="3565078"/>
          </a:xfrm>
        </p:grpSpPr>
        <p:sp>
          <p:nvSpPr>
            <p:cNvPr id="23" name="TextBox 23"/>
            <p:cNvSpPr txBox="1"/>
            <p:nvPr/>
          </p:nvSpPr>
          <p:spPr>
            <a:xfrm>
              <a:off x="0" y="23087"/>
              <a:ext cx="5022215" cy="2846933"/>
            </a:xfrm>
            <a:prstGeom prst="rect">
              <a:avLst/>
            </a:prstGeom>
          </p:spPr>
          <p:txBody>
            <a:bodyPr lIns="0" tIns="0" rIns="0" bIns="0" rtlCol="0" anchor="t">
              <a:spAutoFit/>
            </a:bodyPr>
            <a:lstStyle/>
            <a:p>
              <a:pPr algn="ctr">
                <a:lnSpc>
                  <a:spcPts val="4200"/>
                </a:lnSpc>
              </a:pPr>
              <a:r>
                <a:rPr lang="en-US" sz="3000" dirty="0">
                  <a:solidFill>
                    <a:srgbClr val="000000"/>
                  </a:solidFill>
                  <a:latin typeface="TT Fors"/>
                  <a:ea typeface="TT Fors"/>
                  <a:cs typeface="TT Fors"/>
                  <a:sym typeface="TT Fors"/>
                </a:rPr>
                <a:t>Henin Rio M</a:t>
              </a:r>
            </a:p>
            <a:p>
              <a:pPr algn="ctr">
                <a:lnSpc>
                  <a:spcPts val="4200"/>
                </a:lnSpc>
              </a:pPr>
              <a:r>
                <a:rPr lang="en-US" sz="3000" dirty="0">
                  <a:solidFill>
                    <a:srgbClr val="000000"/>
                  </a:solidFill>
                  <a:latin typeface="TT Fors"/>
                  <a:ea typeface="TT Fors"/>
                  <a:cs typeface="TT Fors"/>
                  <a:sym typeface="TT Fors"/>
                </a:rPr>
                <a:t>Mayank Gaikwad</a:t>
              </a:r>
            </a:p>
            <a:p>
              <a:pPr algn="ctr">
                <a:lnSpc>
                  <a:spcPts val="4200"/>
                </a:lnSpc>
              </a:pPr>
              <a:r>
                <a:rPr lang="en-US" sz="3000" dirty="0">
                  <a:solidFill>
                    <a:srgbClr val="000000"/>
                  </a:solidFill>
                  <a:latin typeface="TT Fors"/>
                  <a:ea typeface="TT Fors"/>
                  <a:cs typeface="TT Fors"/>
                  <a:sym typeface="TT Fors"/>
                </a:rPr>
                <a:t>Rohit Nukala</a:t>
              </a:r>
            </a:p>
            <a:p>
              <a:pPr algn="ctr">
                <a:lnSpc>
                  <a:spcPts val="4200"/>
                </a:lnSpc>
                <a:spcBef>
                  <a:spcPct val="0"/>
                </a:spcBef>
              </a:pPr>
              <a:r>
                <a:rPr lang="en-US" sz="3000" dirty="0" err="1">
                  <a:solidFill>
                    <a:srgbClr val="000000"/>
                  </a:solidFill>
                  <a:latin typeface="TT Fors"/>
                  <a:ea typeface="TT Fors"/>
                  <a:cs typeface="TT Fors"/>
                  <a:sym typeface="TT Fors"/>
                </a:rPr>
                <a:t>Shashant</a:t>
              </a:r>
              <a:r>
                <a:rPr lang="en-US" sz="3000" dirty="0">
                  <a:solidFill>
                    <a:srgbClr val="000000"/>
                  </a:solidFill>
                  <a:latin typeface="TT Fors"/>
                  <a:ea typeface="TT Fors"/>
                  <a:cs typeface="TT Fors"/>
                  <a:sym typeface="TT Fors"/>
                </a:rPr>
                <a:t> Vairamuthu</a:t>
              </a:r>
            </a:p>
          </p:txBody>
        </p:sp>
        <p:sp>
          <p:nvSpPr>
            <p:cNvPr id="24" name="TextBox 24"/>
            <p:cNvSpPr txBox="1"/>
            <p:nvPr/>
          </p:nvSpPr>
          <p:spPr>
            <a:xfrm>
              <a:off x="4775200" y="-57150"/>
              <a:ext cx="3150612" cy="3565078"/>
            </a:xfrm>
            <a:prstGeom prst="rect">
              <a:avLst/>
            </a:prstGeom>
          </p:spPr>
          <p:txBody>
            <a:bodyPr wrap="square" lIns="0" tIns="0" rIns="0" bIns="0" rtlCol="0" anchor="t">
              <a:spAutoFit/>
            </a:bodyPr>
            <a:lstStyle/>
            <a:p>
              <a:pPr algn="ctr">
                <a:lnSpc>
                  <a:spcPts val="4200"/>
                </a:lnSpc>
              </a:pPr>
              <a:r>
                <a:rPr lang="en-US" sz="3000" dirty="0">
                  <a:solidFill>
                    <a:srgbClr val="000000"/>
                  </a:solidFill>
                  <a:latin typeface="TT Fors"/>
                  <a:ea typeface="TT Fors"/>
                  <a:cs typeface="TT Fors"/>
                  <a:sym typeface="TT Fors"/>
                </a:rPr>
                <a:t>1262251978</a:t>
              </a:r>
            </a:p>
            <a:p>
              <a:pPr algn="ctr">
                <a:lnSpc>
                  <a:spcPts val="4200"/>
                </a:lnSpc>
              </a:pPr>
              <a:r>
                <a:rPr lang="en-US" sz="3000" dirty="0">
                  <a:solidFill>
                    <a:srgbClr val="000000"/>
                  </a:solidFill>
                  <a:latin typeface="TT Fors"/>
                  <a:ea typeface="TT Fors"/>
                  <a:cs typeface="TT Fors"/>
                  <a:sym typeface="TT Fors"/>
                </a:rPr>
                <a:t>1262251650</a:t>
              </a:r>
            </a:p>
            <a:p>
              <a:pPr algn="ctr">
                <a:lnSpc>
                  <a:spcPts val="4200"/>
                </a:lnSpc>
              </a:pPr>
              <a:r>
                <a:rPr lang="en-US" sz="3000" dirty="0">
                  <a:solidFill>
                    <a:srgbClr val="000000"/>
                  </a:solidFill>
                  <a:latin typeface="TT Fors"/>
                  <a:ea typeface="TT Fors"/>
                  <a:cs typeface="TT Fors"/>
                  <a:sym typeface="TT Fors"/>
                </a:rPr>
                <a:t>1262251929</a:t>
              </a:r>
            </a:p>
            <a:p>
              <a:pPr algn="ctr">
                <a:lnSpc>
                  <a:spcPts val="4200"/>
                </a:lnSpc>
              </a:pPr>
              <a:r>
                <a:rPr lang="en-US" sz="3000" dirty="0">
                  <a:solidFill>
                    <a:srgbClr val="000000"/>
                  </a:solidFill>
                  <a:latin typeface="TT Fors"/>
                  <a:ea typeface="TT Fors"/>
                  <a:cs typeface="TT Fors"/>
                  <a:sym typeface="TT Fors"/>
                </a:rPr>
                <a:t>1262250804</a:t>
              </a:r>
            </a:p>
            <a:p>
              <a:pPr algn="ctr">
                <a:lnSpc>
                  <a:spcPts val="4200"/>
                </a:lnSpc>
                <a:spcBef>
                  <a:spcPct val="0"/>
                </a:spcBef>
              </a:pPr>
              <a:endParaRPr lang="en-US" sz="3000" dirty="0">
                <a:solidFill>
                  <a:srgbClr val="000000"/>
                </a:solidFill>
                <a:latin typeface="TT Fors"/>
                <a:ea typeface="TT Fors"/>
                <a:cs typeface="TT Fors"/>
                <a:sym typeface="TT Fors"/>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1EDE2"/>
        </a:solidFill>
        <a:effectLst/>
      </p:bgPr>
    </p:bg>
    <p:spTree>
      <p:nvGrpSpPr>
        <p:cNvPr id="1" name=""/>
        <p:cNvGrpSpPr/>
        <p:nvPr/>
      </p:nvGrpSpPr>
      <p:grpSpPr>
        <a:xfrm>
          <a:off x="0" y="0"/>
          <a:ext cx="0" cy="0"/>
          <a:chOff x="0" y="0"/>
          <a:chExt cx="0" cy="0"/>
        </a:xfrm>
      </p:grpSpPr>
      <p:grpSp>
        <p:nvGrpSpPr>
          <p:cNvPr id="2" name="Group 2"/>
          <p:cNvGrpSpPr/>
          <p:nvPr/>
        </p:nvGrpSpPr>
        <p:grpSpPr>
          <a:xfrm>
            <a:off x="-1614662" y="-235831"/>
            <a:ext cx="21517324" cy="10758662"/>
            <a:chOff x="0" y="0"/>
            <a:chExt cx="28689765" cy="14344882"/>
          </a:xfrm>
        </p:grpSpPr>
        <p:sp>
          <p:nvSpPr>
            <p:cNvPr id="3" name="Freeform 3"/>
            <p:cNvSpPr/>
            <p:nvPr/>
          </p:nvSpPr>
          <p:spPr>
            <a:xfrm>
              <a:off x="0" y="0"/>
              <a:ext cx="7172441" cy="7172441"/>
            </a:xfrm>
            <a:custGeom>
              <a:avLst/>
              <a:gdLst/>
              <a:ahLst/>
              <a:cxnLst/>
              <a:rect l="l" t="t" r="r" b="b"/>
              <a:pathLst>
                <a:path w="7172441" h="7172441">
                  <a:moveTo>
                    <a:pt x="0" y="0"/>
                  </a:moveTo>
                  <a:lnTo>
                    <a:pt x="7172441" y="0"/>
                  </a:lnTo>
                  <a:lnTo>
                    <a:pt x="7172441" y="7172441"/>
                  </a:lnTo>
                  <a:lnTo>
                    <a:pt x="0" y="7172441"/>
                  </a:lnTo>
                  <a:lnTo>
                    <a:pt x="0" y="0"/>
                  </a:lnTo>
                  <a:close/>
                </a:path>
              </a:pathLst>
            </a:custGeom>
            <a:blipFill>
              <a:blip>
                <a:alphaModFix amt="9999"/>
                <a:extLst>
                  <a:ext uri="{96DAC541-7B7A-43D3-8B79-37D633B846F1}">
                    <asvg:svgBlip xmlns:asvg="http://schemas.microsoft.com/office/drawing/2016/SVG/main" r:embed="rId3"/>
                  </a:ext>
                </a:extLst>
              </a:blip>
              <a:stretch>
                <a:fillRect/>
              </a:stretch>
            </a:blipFill>
          </p:spPr>
          <p:txBody>
            <a:bodyPr/>
            <a:lstStyle/>
            <a:p>
              <a:endParaRPr lang="en-GB"/>
            </a:p>
          </p:txBody>
        </p:sp>
        <p:sp>
          <p:nvSpPr>
            <p:cNvPr id="4" name="Freeform 4"/>
            <p:cNvSpPr/>
            <p:nvPr/>
          </p:nvSpPr>
          <p:spPr>
            <a:xfrm>
              <a:off x="0" y="7172441"/>
              <a:ext cx="7172441" cy="7172441"/>
            </a:xfrm>
            <a:custGeom>
              <a:avLst/>
              <a:gdLst/>
              <a:ahLst/>
              <a:cxnLst/>
              <a:rect l="l" t="t" r="r" b="b"/>
              <a:pathLst>
                <a:path w="7172441" h="7172441">
                  <a:moveTo>
                    <a:pt x="0" y="0"/>
                  </a:moveTo>
                  <a:lnTo>
                    <a:pt x="7172441" y="0"/>
                  </a:lnTo>
                  <a:lnTo>
                    <a:pt x="7172441" y="7172441"/>
                  </a:lnTo>
                  <a:lnTo>
                    <a:pt x="0" y="7172441"/>
                  </a:lnTo>
                  <a:lnTo>
                    <a:pt x="0" y="0"/>
                  </a:lnTo>
                  <a:close/>
                </a:path>
              </a:pathLst>
            </a:custGeom>
            <a:blipFill>
              <a:blip>
                <a:alphaModFix amt="9999"/>
                <a:extLst>
                  <a:ext uri="{96DAC541-7B7A-43D3-8B79-37D633B846F1}">
                    <asvg:svgBlip xmlns:asvg="http://schemas.microsoft.com/office/drawing/2016/SVG/main" r:embed="rId3"/>
                  </a:ext>
                </a:extLst>
              </a:blip>
              <a:stretch>
                <a:fillRect/>
              </a:stretch>
            </a:blipFill>
          </p:spPr>
          <p:txBody>
            <a:bodyPr/>
            <a:lstStyle/>
            <a:p>
              <a:endParaRPr lang="en-GB"/>
            </a:p>
          </p:txBody>
        </p:sp>
        <p:sp>
          <p:nvSpPr>
            <p:cNvPr id="5" name="Freeform 5"/>
            <p:cNvSpPr/>
            <p:nvPr/>
          </p:nvSpPr>
          <p:spPr>
            <a:xfrm>
              <a:off x="7172441" y="0"/>
              <a:ext cx="7172441" cy="7172441"/>
            </a:xfrm>
            <a:custGeom>
              <a:avLst/>
              <a:gdLst/>
              <a:ahLst/>
              <a:cxnLst/>
              <a:rect l="l" t="t" r="r" b="b"/>
              <a:pathLst>
                <a:path w="7172441" h="7172441">
                  <a:moveTo>
                    <a:pt x="0" y="0"/>
                  </a:moveTo>
                  <a:lnTo>
                    <a:pt x="7172441" y="0"/>
                  </a:lnTo>
                  <a:lnTo>
                    <a:pt x="7172441" y="7172441"/>
                  </a:lnTo>
                  <a:lnTo>
                    <a:pt x="0" y="7172441"/>
                  </a:lnTo>
                  <a:lnTo>
                    <a:pt x="0" y="0"/>
                  </a:lnTo>
                  <a:close/>
                </a:path>
              </a:pathLst>
            </a:custGeom>
            <a:blipFill>
              <a:blip>
                <a:alphaModFix amt="9999"/>
                <a:extLst>
                  <a:ext uri="{96DAC541-7B7A-43D3-8B79-37D633B846F1}">
                    <asvg:svgBlip xmlns:asvg="http://schemas.microsoft.com/office/drawing/2016/SVG/main" r:embed="rId3"/>
                  </a:ext>
                </a:extLst>
              </a:blip>
              <a:stretch>
                <a:fillRect/>
              </a:stretch>
            </a:blipFill>
          </p:spPr>
          <p:txBody>
            <a:bodyPr/>
            <a:lstStyle/>
            <a:p>
              <a:endParaRPr lang="en-GB"/>
            </a:p>
          </p:txBody>
        </p:sp>
        <p:sp>
          <p:nvSpPr>
            <p:cNvPr id="6" name="Freeform 6"/>
            <p:cNvSpPr/>
            <p:nvPr/>
          </p:nvSpPr>
          <p:spPr>
            <a:xfrm>
              <a:off x="7172441" y="7172441"/>
              <a:ext cx="7172441" cy="7172441"/>
            </a:xfrm>
            <a:custGeom>
              <a:avLst/>
              <a:gdLst/>
              <a:ahLst/>
              <a:cxnLst/>
              <a:rect l="l" t="t" r="r" b="b"/>
              <a:pathLst>
                <a:path w="7172441" h="7172441">
                  <a:moveTo>
                    <a:pt x="0" y="0"/>
                  </a:moveTo>
                  <a:lnTo>
                    <a:pt x="7172441" y="0"/>
                  </a:lnTo>
                  <a:lnTo>
                    <a:pt x="7172441" y="7172441"/>
                  </a:lnTo>
                  <a:lnTo>
                    <a:pt x="0" y="7172441"/>
                  </a:lnTo>
                  <a:lnTo>
                    <a:pt x="0" y="0"/>
                  </a:lnTo>
                  <a:close/>
                </a:path>
              </a:pathLst>
            </a:custGeom>
            <a:blipFill>
              <a:blip>
                <a:alphaModFix amt="9999"/>
                <a:extLst>
                  <a:ext uri="{96DAC541-7B7A-43D3-8B79-37D633B846F1}">
                    <asvg:svgBlip xmlns:asvg="http://schemas.microsoft.com/office/drawing/2016/SVG/main" r:embed="rId3"/>
                  </a:ext>
                </a:extLst>
              </a:blip>
              <a:stretch>
                <a:fillRect/>
              </a:stretch>
            </a:blipFill>
          </p:spPr>
          <p:txBody>
            <a:bodyPr/>
            <a:lstStyle/>
            <a:p>
              <a:endParaRPr lang="en-GB"/>
            </a:p>
          </p:txBody>
        </p:sp>
        <p:sp>
          <p:nvSpPr>
            <p:cNvPr id="7" name="Freeform 7"/>
            <p:cNvSpPr/>
            <p:nvPr/>
          </p:nvSpPr>
          <p:spPr>
            <a:xfrm>
              <a:off x="14344882" y="0"/>
              <a:ext cx="7172441" cy="7172441"/>
            </a:xfrm>
            <a:custGeom>
              <a:avLst/>
              <a:gdLst/>
              <a:ahLst/>
              <a:cxnLst/>
              <a:rect l="l" t="t" r="r" b="b"/>
              <a:pathLst>
                <a:path w="7172441" h="7172441">
                  <a:moveTo>
                    <a:pt x="0" y="0"/>
                  </a:moveTo>
                  <a:lnTo>
                    <a:pt x="7172442" y="0"/>
                  </a:lnTo>
                  <a:lnTo>
                    <a:pt x="7172442" y="7172441"/>
                  </a:lnTo>
                  <a:lnTo>
                    <a:pt x="0" y="7172441"/>
                  </a:lnTo>
                  <a:lnTo>
                    <a:pt x="0" y="0"/>
                  </a:lnTo>
                  <a:close/>
                </a:path>
              </a:pathLst>
            </a:custGeom>
            <a:blipFill>
              <a:blip>
                <a:alphaModFix amt="9999"/>
                <a:extLst>
                  <a:ext uri="{96DAC541-7B7A-43D3-8B79-37D633B846F1}">
                    <asvg:svgBlip xmlns:asvg="http://schemas.microsoft.com/office/drawing/2016/SVG/main" r:embed="rId3"/>
                  </a:ext>
                </a:extLst>
              </a:blip>
              <a:stretch>
                <a:fillRect/>
              </a:stretch>
            </a:blipFill>
          </p:spPr>
          <p:txBody>
            <a:bodyPr/>
            <a:lstStyle/>
            <a:p>
              <a:endParaRPr lang="en-GB"/>
            </a:p>
          </p:txBody>
        </p:sp>
        <p:sp>
          <p:nvSpPr>
            <p:cNvPr id="8" name="Freeform 8"/>
            <p:cNvSpPr/>
            <p:nvPr/>
          </p:nvSpPr>
          <p:spPr>
            <a:xfrm>
              <a:off x="14344882" y="7172441"/>
              <a:ext cx="7172441" cy="7172441"/>
            </a:xfrm>
            <a:custGeom>
              <a:avLst/>
              <a:gdLst/>
              <a:ahLst/>
              <a:cxnLst/>
              <a:rect l="l" t="t" r="r" b="b"/>
              <a:pathLst>
                <a:path w="7172441" h="7172441">
                  <a:moveTo>
                    <a:pt x="0" y="0"/>
                  </a:moveTo>
                  <a:lnTo>
                    <a:pt x="7172442" y="0"/>
                  </a:lnTo>
                  <a:lnTo>
                    <a:pt x="7172442" y="7172441"/>
                  </a:lnTo>
                  <a:lnTo>
                    <a:pt x="0" y="7172441"/>
                  </a:lnTo>
                  <a:lnTo>
                    <a:pt x="0" y="0"/>
                  </a:lnTo>
                  <a:close/>
                </a:path>
              </a:pathLst>
            </a:custGeom>
            <a:blipFill>
              <a:blip>
                <a:alphaModFix amt="9999"/>
                <a:extLst>
                  <a:ext uri="{96DAC541-7B7A-43D3-8B79-37D633B846F1}">
                    <asvg:svgBlip xmlns:asvg="http://schemas.microsoft.com/office/drawing/2016/SVG/main" r:embed="rId3"/>
                  </a:ext>
                </a:extLst>
              </a:blip>
              <a:stretch>
                <a:fillRect/>
              </a:stretch>
            </a:blipFill>
          </p:spPr>
          <p:txBody>
            <a:bodyPr/>
            <a:lstStyle/>
            <a:p>
              <a:endParaRPr lang="en-GB"/>
            </a:p>
          </p:txBody>
        </p:sp>
        <p:sp>
          <p:nvSpPr>
            <p:cNvPr id="9" name="Freeform 9"/>
            <p:cNvSpPr/>
            <p:nvPr/>
          </p:nvSpPr>
          <p:spPr>
            <a:xfrm>
              <a:off x="21517324" y="0"/>
              <a:ext cx="7172441" cy="7172441"/>
            </a:xfrm>
            <a:custGeom>
              <a:avLst/>
              <a:gdLst/>
              <a:ahLst/>
              <a:cxnLst/>
              <a:rect l="l" t="t" r="r" b="b"/>
              <a:pathLst>
                <a:path w="7172441" h="7172441">
                  <a:moveTo>
                    <a:pt x="0" y="0"/>
                  </a:moveTo>
                  <a:lnTo>
                    <a:pt x="7172441" y="0"/>
                  </a:lnTo>
                  <a:lnTo>
                    <a:pt x="7172441" y="7172441"/>
                  </a:lnTo>
                  <a:lnTo>
                    <a:pt x="0" y="7172441"/>
                  </a:lnTo>
                  <a:lnTo>
                    <a:pt x="0" y="0"/>
                  </a:lnTo>
                  <a:close/>
                </a:path>
              </a:pathLst>
            </a:custGeom>
            <a:blipFill>
              <a:blip>
                <a:alphaModFix amt="9999"/>
                <a:extLst>
                  <a:ext uri="{96DAC541-7B7A-43D3-8B79-37D633B846F1}">
                    <asvg:svgBlip xmlns:asvg="http://schemas.microsoft.com/office/drawing/2016/SVG/main" r:embed="rId3"/>
                  </a:ext>
                </a:extLst>
              </a:blip>
              <a:stretch>
                <a:fillRect/>
              </a:stretch>
            </a:blipFill>
          </p:spPr>
          <p:txBody>
            <a:bodyPr/>
            <a:lstStyle/>
            <a:p>
              <a:endParaRPr lang="en-GB"/>
            </a:p>
          </p:txBody>
        </p:sp>
        <p:sp>
          <p:nvSpPr>
            <p:cNvPr id="10" name="Freeform 10"/>
            <p:cNvSpPr/>
            <p:nvPr/>
          </p:nvSpPr>
          <p:spPr>
            <a:xfrm>
              <a:off x="21517324" y="7172441"/>
              <a:ext cx="7172441" cy="7172441"/>
            </a:xfrm>
            <a:custGeom>
              <a:avLst/>
              <a:gdLst/>
              <a:ahLst/>
              <a:cxnLst/>
              <a:rect l="l" t="t" r="r" b="b"/>
              <a:pathLst>
                <a:path w="7172441" h="7172441">
                  <a:moveTo>
                    <a:pt x="0" y="0"/>
                  </a:moveTo>
                  <a:lnTo>
                    <a:pt x="7172441" y="0"/>
                  </a:lnTo>
                  <a:lnTo>
                    <a:pt x="7172441" y="7172441"/>
                  </a:lnTo>
                  <a:lnTo>
                    <a:pt x="0" y="7172441"/>
                  </a:lnTo>
                  <a:lnTo>
                    <a:pt x="0" y="0"/>
                  </a:lnTo>
                  <a:close/>
                </a:path>
              </a:pathLst>
            </a:custGeom>
            <a:blipFill>
              <a:blip>
                <a:alphaModFix amt="9999"/>
                <a:extLst>
                  <a:ext uri="{96DAC541-7B7A-43D3-8B79-37D633B846F1}">
                    <asvg:svgBlip xmlns:asvg="http://schemas.microsoft.com/office/drawing/2016/SVG/main" r:embed="rId3"/>
                  </a:ext>
                </a:extLst>
              </a:blip>
              <a:stretch>
                <a:fillRect/>
              </a:stretch>
            </a:blipFill>
          </p:spPr>
          <p:txBody>
            <a:bodyPr/>
            <a:lstStyle/>
            <a:p>
              <a:endParaRPr lang="en-GB"/>
            </a:p>
          </p:txBody>
        </p:sp>
      </p:grpSp>
      <p:grpSp>
        <p:nvGrpSpPr>
          <p:cNvPr id="11" name="Group 11"/>
          <p:cNvGrpSpPr/>
          <p:nvPr/>
        </p:nvGrpSpPr>
        <p:grpSpPr>
          <a:xfrm>
            <a:off x="15066413" y="683012"/>
            <a:ext cx="2065807" cy="749445"/>
            <a:chOff x="0" y="0"/>
            <a:chExt cx="1120221" cy="406400"/>
          </a:xfrm>
        </p:grpSpPr>
        <p:sp>
          <p:nvSpPr>
            <p:cNvPr id="12" name="Freeform 12"/>
            <p:cNvSpPr/>
            <p:nvPr/>
          </p:nvSpPr>
          <p:spPr>
            <a:xfrm>
              <a:off x="0" y="0"/>
              <a:ext cx="1120221" cy="406400"/>
            </a:xfrm>
            <a:custGeom>
              <a:avLst/>
              <a:gdLst/>
              <a:ahLst/>
              <a:cxnLst/>
              <a:rect l="l" t="t" r="r" b="b"/>
              <a:pathLst>
                <a:path w="1120221" h="406400">
                  <a:moveTo>
                    <a:pt x="917021" y="0"/>
                  </a:moveTo>
                  <a:cubicBezTo>
                    <a:pt x="1029246" y="0"/>
                    <a:pt x="1120221" y="90976"/>
                    <a:pt x="1120221" y="203200"/>
                  </a:cubicBezTo>
                  <a:cubicBezTo>
                    <a:pt x="1120221" y="315424"/>
                    <a:pt x="1029246" y="406400"/>
                    <a:pt x="917021" y="406400"/>
                  </a:cubicBezTo>
                  <a:lnTo>
                    <a:pt x="203200" y="406400"/>
                  </a:lnTo>
                  <a:cubicBezTo>
                    <a:pt x="90976" y="406400"/>
                    <a:pt x="0" y="315424"/>
                    <a:pt x="0" y="203200"/>
                  </a:cubicBezTo>
                  <a:cubicBezTo>
                    <a:pt x="0" y="90976"/>
                    <a:pt x="90976" y="0"/>
                    <a:pt x="203200" y="0"/>
                  </a:cubicBezTo>
                  <a:close/>
                </a:path>
              </a:pathLst>
            </a:custGeom>
            <a:solidFill>
              <a:srgbClr val="343434"/>
            </a:solidFill>
          </p:spPr>
          <p:txBody>
            <a:bodyPr/>
            <a:lstStyle/>
            <a:p>
              <a:endParaRPr lang="en-GB"/>
            </a:p>
          </p:txBody>
        </p:sp>
        <p:sp>
          <p:nvSpPr>
            <p:cNvPr id="13" name="TextBox 13"/>
            <p:cNvSpPr txBox="1"/>
            <p:nvPr/>
          </p:nvSpPr>
          <p:spPr>
            <a:xfrm>
              <a:off x="0" y="-38100"/>
              <a:ext cx="1120221" cy="444500"/>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600141" y="2011748"/>
            <a:ext cx="15298373" cy="7592240"/>
            <a:chOff x="0" y="-38100"/>
            <a:chExt cx="3885130" cy="1419379"/>
          </a:xfrm>
        </p:grpSpPr>
        <p:sp>
          <p:nvSpPr>
            <p:cNvPr id="15" name="Freeform 15"/>
            <p:cNvSpPr/>
            <p:nvPr/>
          </p:nvSpPr>
          <p:spPr>
            <a:xfrm>
              <a:off x="94065" y="31269"/>
              <a:ext cx="3791065" cy="1350010"/>
            </a:xfrm>
            <a:custGeom>
              <a:avLst/>
              <a:gdLst/>
              <a:ahLst/>
              <a:cxnLst/>
              <a:rect l="l" t="t" r="r" b="b"/>
              <a:pathLst>
                <a:path w="3791065" h="1350010">
                  <a:moveTo>
                    <a:pt x="27430" y="0"/>
                  </a:moveTo>
                  <a:lnTo>
                    <a:pt x="3763635" y="0"/>
                  </a:lnTo>
                  <a:cubicBezTo>
                    <a:pt x="3778784" y="0"/>
                    <a:pt x="3791065" y="12281"/>
                    <a:pt x="3791065" y="27430"/>
                  </a:cubicBezTo>
                  <a:lnTo>
                    <a:pt x="3791065" y="1322579"/>
                  </a:lnTo>
                  <a:cubicBezTo>
                    <a:pt x="3791065" y="1337729"/>
                    <a:pt x="3778784" y="1350010"/>
                    <a:pt x="3763635" y="1350010"/>
                  </a:cubicBezTo>
                  <a:lnTo>
                    <a:pt x="27430" y="1350010"/>
                  </a:lnTo>
                  <a:cubicBezTo>
                    <a:pt x="12281" y="1350010"/>
                    <a:pt x="0" y="1337729"/>
                    <a:pt x="0" y="1322579"/>
                  </a:cubicBezTo>
                  <a:lnTo>
                    <a:pt x="0" y="27430"/>
                  </a:lnTo>
                  <a:cubicBezTo>
                    <a:pt x="0" y="12281"/>
                    <a:pt x="12281" y="0"/>
                    <a:pt x="27430" y="0"/>
                  </a:cubicBezTo>
                  <a:close/>
                </a:path>
              </a:pathLst>
            </a:custGeom>
            <a:solidFill>
              <a:srgbClr val="343434"/>
            </a:solidFill>
            <a:ln cap="rnd">
              <a:noFill/>
              <a:prstDash val="solid"/>
              <a:round/>
            </a:ln>
          </p:spPr>
          <p:txBody>
            <a:bodyPr/>
            <a:lstStyle/>
            <a:p>
              <a:endParaRPr lang="en-GB" dirty="0"/>
            </a:p>
          </p:txBody>
        </p:sp>
        <p:sp>
          <p:nvSpPr>
            <p:cNvPr id="16" name="TextBox 16"/>
            <p:cNvSpPr txBox="1"/>
            <p:nvPr/>
          </p:nvSpPr>
          <p:spPr>
            <a:xfrm>
              <a:off x="0" y="-38100"/>
              <a:ext cx="3791065" cy="1388110"/>
            </a:xfrm>
            <a:prstGeom prst="rect">
              <a:avLst/>
            </a:prstGeom>
          </p:spPr>
          <p:txBody>
            <a:bodyPr lIns="50800" tIns="50800" rIns="50800" bIns="50800" rtlCol="0" anchor="ctr"/>
            <a:lstStyle/>
            <a:p>
              <a:pPr algn="ctr">
                <a:lnSpc>
                  <a:spcPts val="2659"/>
                </a:lnSpc>
              </a:pPr>
              <a:endParaRPr/>
            </a:p>
          </p:txBody>
        </p:sp>
      </p:grpSp>
      <p:sp>
        <p:nvSpPr>
          <p:cNvPr id="17" name="TextBox 17"/>
          <p:cNvSpPr txBox="1"/>
          <p:nvPr/>
        </p:nvSpPr>
        <p:spPr>
          <a:xfrm>
            <a:off x="1590449" y="661624"/>
            <a:ext cx="13475964" cy="1109919"/>
          </a:xfrm>
          <a:prstGeom prst="rect">
            <a:avLst/>
          </a:prstGeom>
        </p:spPr>
        <p:txBody>
          <a:bodyPr lIns="0" tIns="0" rIns="0" bIns="0" rtlCol="0" anchor="t">
            <a:spAutoFit/>
          </a:bodyPr>
          <a:lstStyle/>
          <a:p>
            <a:pPr algn="ctr">
              <a:lnSpc>
                <a:spcPts val="7680"/>
              </a:lnSpc>
            </a:pPr>
            <a:r>
              <a:rPr lang="en-US" sz="9600" dirty="0">
                <a:solidFill>
                  <a:srgbClr val="3A3E61"/>
                </a:solidFill>
                <a:latin typeface="Extenda 90 Exa"/>
                <a:sym typeface="Extenda 90 Exa"/>
              </a:rPr>
              <a:t>What is </a:t>
            </a:r>
            <a:r>
              <a:rPr lang="en-US" sz="9600" dirty="0">
                <a:solidFill>
                  <a:srgbClr val="3A3E61"/>
                </a:solidFill>
                <a:latin typeface="Extenda 90 Exa"/>
                <a:ea typeface="Extenda 90 Exa"/>
                <a:cs typeface="Extenda 90 Exa"/>
                <a:sym typeface="Extenda 90 Exa"/>
              </a:rPr>
              <a:t>our project?</a:t>
            </a:r>
          </a:p>
        </p:txBody>
      </p:sp>
      <p:sp>
        <p:nvSpPr>
          <p:cNvPr id="18" name="TextBox 18"/>
          <p:cNvSpPr txBox="1"/>
          <p:nvPr/>
        </p:nvSpPr>
        <p:spPr>
          <a:xfrm>
            <a:off x="15425164" y="837629"/>
            <a:ext cx="1094217" cy="410718"/>
          </a:xfrm>
          <a:prstGeom prst="rect">
            <a:avLst/>
          </a:prstGeom>
        </p:spPr>
        <p:txBody>
          <a:bodyPr lIns="0" tIns="0" rIns="0" bIns="0" rtlCol="0" anchor="t">
            <a:spAutoFit/>
          </a:bodyPr>
          <a:lstStyle/>
          <a:p>
            <a:pPr algn="l">
              <a:lnSpc>
                <a:spcPts val="3275"/>
              </a:lnSpc>
            </a:pPr>
            <a:r>
              <a:rPr lang="en-US" sz="2799" b="1">
                <a:solidFill>
                  <a:srgbClr val="FFFFFF"/>
                </a:solidFill>
                <a:latin typeface="TT Fors Bold"/>
                <a:ea typeface="TT Fors Bold"/>
                <a:cs typeface="TT Fors Bold"/>
                <a:sym typeface="TT Fors Bold"/>
              </a:rPr>
              <a:t>Page</a:t>
            </a:r>
          </a:p>
        </p:txBody>
      </p:sp>
      <p:grpSp>
        <p:nvGrpSpPr>
          <p:cNvPr id="19" name="Group 19"/>
          <p:cNvGrpSpPr/>
          <p:nvPr/>
        </p:nvGrpSpPr>
        <p:grpSpPr>
          <a:xfrm>
            <a:off x="16543936" y="646641"/>
            <a:ext cx="822187" cy="822187"/>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3E61"/>
            </a:solidFill>
          </p:spPr>
          <p:txBody>
            <a:bodyPr/>
            <a:lstStyle/>
            <a:p>
              <a:endParaRPr lang="en-GB"/>
            </a:p>
          </p:txBody>
        </p:sp>
        <p:sp>
          <p:nvSpPr>
            <p:cNvPr id="21" name="TextBox 21"/>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2" name="TextBox 22"/>
          <p:cNvSpPr txBox="1"/>
          <p:nvPr/>
        </p:nvSpPr>
        <p:spPr>
          <a:xfrm>
            <a:off x="16572511" y="818579"/>
            <a:ext cx="749445" cy="547116"/>
          </a:xfrm>
          <a:prstGeom prst="rect">
            <a:avLst/>
          </a:prstGeom>
        </p:spPr>
        <p:txBody>
          <a:bodyPr lIns="0" tIns="0" rIns="0" bIns="0" rtlCol="0" anchor="t">
            <a:spAutoFit/>
          </a:bodyPr>
          <a:lstStyle/>
          <a:p>
            <a:pPr algn="ctr">
              <a:lnSpc>
                <a:spcPts val="4211"/>
              </a:lnSpc>
            </a:pPr>
            <a:r>
              <a:rPr lang="en-US" sz="3599">
                <a:solidFill>
                  <a:srgbClr val="FFFFFF"/>
                </a:solidFill>
                <a:latin typeface="Extenda 90 Exa"/>
                <a:ea typeface="Extenda 90 Exa"/>
                <a:cs typeface="Extenda 90 Exa"/>
                <a:sym typeface="Extenda 90 Exa"/>
              </a:rPr>
              <a:t>02</a:t>
            </a:r>
          </a:p>
        </p:txBody>
      </p:sp>
      <p:sp>
        <p:nvSpPr>
          <p:cNvPr id="23" name="TextBox 23"/>
          <p:cNvSpPr txBox="1"/>
          <p:nvPr/>
        </p:nvSpPr>
        <p:spPr>
          <a:xfrm>
            <a:off x="2053533" y="2995720"/>
            <a:ext cx="12812024" cy="6155531"/>
          </a:xfrm>
          <a:prstGeom prst="rect">
            <a:avLst/>
          </a:prstGeom>
        </p:spPr>
        <p:txBody>
          <a:bodyPr wrap="square" lIns="0" tIns="0" rIns="0" bIns="0" rtlCol="0" anchor="t">
            <a:spAutoFit/>
          </a:bodyPr>
          <a:lstStyle/>
          <a:p>
            <a:pPr marL="342900" lvl="0" indent="-342900" algn="just">
              <a:buFont typeface="+mj-lt"/>
              <a:buAutoNum type="arabicPeriod"/>
            </a:pPr>
            <a:r>
              <a:rPr lang="en-GB" sz="4000" dirty="0">
                <a:solidFill>
                  <a:srgbClr val="F1EDE2"/>
                </a:solidFill>
                <a:latin typeface="TT Fors"/>
              </a:rPr>
              <a:t>Compares two distinct multi-agent coordination strategies in real-time.</a:t>
            </a:r>
          </a:p>
          <a:p>
            <a:pPr marL="342900" lvl="0" indent="-342900" algn="just">
              <a:buFont typeface="+mj-lt"/>
              <a:buAutoNum type="arabicPeriod"/>
            </a:pPr>
            <a:r>
              <a:rPr lang="en-GB" sz="4000" dirty="0">
                <a:solidFill>
                  <a:srgbClr val="F1EDE2"/>
                </a:solidFill>
                <a:latin typeface="TT Fors"/>
              </a:rPr>
              <a:t> Simulates dozens of delivery bots navigating rails, picking up crates, and dropping them off at stations.</a:t>
            </a:r>
          </a:p>
          <a:p>
            <a:pPr marL="342900" indent="-342900" algn="just">
              <a:buFont typeface="+mj-lt"/>
              <a:buAutoNum type="arabicPeriod"/>
            </a:pPr>
            <a:r>
              <a:rPr lang="en-GB" sz="4000" dirty="0">
                <a:solidFill>
                  <a:srgbClr val="F1EDE2"/>
                </a:solidFill>
                <a:latin typeface="TT Fors"/>
              </a:rPr>
              <a:t> Features a "Race Mode" to visually and statistically compare which algorithm delivers N orders faster under high traffic. </a:t>
            </a:r>
          </a:p>
          <a:p>
            <a:pPr marL="342900" indent="-342900" algn="just">
              <a:buFont typeface="+mj-lt"/>
              <a:buAutoNum type="arabicPeriod"/>
            </a:pPr>
            <a:r>
              <a:rPr lang="en-GB" sz="4000" dirty="0">
                <a:solidFill>
                  <a:srgbClr val="F1EDE2"/>
                </a:solidFill>
                <a:latin typeface="TT Fors"/>
              </a:rPr>
              <a:t> A split-screen simulation of an automated warehouse grid (similar to and based on Ocado’s hive delivery and warehouse systems).</a:t>
            </a:r>
          </a:p>
        </p:txBody>
      </p:sp>
      <p:sp>
        <p:nvSpPr>
          <p:cNvPr id="24" name="Freeform 24"/>
          <p:cNvSpPr/>
          <p:nvPr/>
        </p:nvSpPr>
        <p:spPr>
          <a:xfrm>
            <a:off x="14865557" y="1702213"/>
            <a:ext cx="1838981" cy="1765422"/>
          </a:xfrm>
          <a:custGeom>
            <a:avLst/>
            <a:gdLst/>
            <a:ahLst/>
            <a:cxnLst/>
            <a:rect l="l" t="t" r="r" b="b"/>
            <a:pathLst>
              <a:path w="1838981" h="1765422">
                <a:moveTo>
                  <a:pt x="0" y="0"/>
                </a:moveTo>
                <a:lnTo>
                  <a:pt x="1838980" y="0"/>
                </a:lnTo>
                <a:lnTo>
                  <a:pt x="1838980" y="1765422"/>
                </a:lnTo>
                <a:lnTo>
                  <a:pt x="0" y="176542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GB"/>
          </a:p>
        </p:txBody>
      </p:sp>
      <p:sp>
        <p:nvSpPr>
          <p:cNvPr id="25" name="Freeform 25"/>
          <p:cNvSpPr/>
          <p:nvPr/>
        </p:nvSpPr>
        <p:spPr>
          <a:xfrm>
            <a:off x="800902" y="8313687"/>
            <a:ext cx="1322898" cy="1418312"/>
          </a:xfrm>
          <a:custGeom>
            <a:avLst/>
            <a:gdLst/>
            <a:ahLst/>
            <a:cxnLst/>
            <a:rect l="l" t="t" r="r" b="b"/>
            <a:pathLst>
              <a:path w="1322898" h="1418312">
                <a:moveTo>
                  <a:pt x="0" y="0"/>
                </a:moveTo>
                <a:lnTo>
                  <a:pt x="1322898" y="0"/>
                </a:lnTo>
                <a:lnTo>
                  <a:pt x="1322898" y="1418311"/>
                </a:lnTo>
                <a:lnTo>
                  <a:pt x="0" y="141831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GB"/>
          </a:p>
        </p:txBody>
      </p:sp>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1EDE2"/>
        </a:solidFill>
        <a:effectLst/>
      </p:bgPr>
    </p:bg>
    <p:spTree>
      <p:nvGrpSpPr>
        <p:cNvPr id="1" name=""/>
        <p:cNvGrpSpPr/>
        <p:nvPr/>
      </p:nvGrpSpPr>
      <p:grpSpPr>
        <a:xfrm>
          <a:off x="0" y="0"/>
          <a:ext cx="0" cy="0"/>
          <a:chOff x="0" y="0"/>
          <a:chExt cx="0" cy="0"/>
        </a:xfrm>
      </p:grpSpPr>
      <p:grpSp>
        <p:nvGrpSpPr>
          <p:cNvPr id="2" name="Group 2"/>
          <p:cNvGrpSpPr/>
          <p:nvPr/>
        </p:nvGrpSpPr>
        <p:grpSpPr>
          <a:xfrm>
            <a:off x="-1447800" y="-235831"/>
            <a:ext cx="21517324" cy="10758662"/>
            <a:chOff x="0" y="0"/>
            <a:chExt cx="28689765" cy="14344882"/>
          </a:xfrm>
        </p:grpSpPr>
        <p:sp>
          <p:nvSpPr>
            <p:cNvPr id="3" name="Freeform 3"/>
            <p:cNvSpPr/>
            <p:nvPr/>
          </p:nvSpPr>
          <p:spPr>
            <a:xfrm>
              <a:off x="0" y="0"/>
              <a:ext cx="7172441" cy="7172441"/>
            </a:xfrm>
            <a:custGeom>
              <a:avLst/>
              <a:gdLst/>
              <a:ahLst/>
              <a:cxnLst/>
              <a:rect l="l" t="t" r="r" b="b"/>
              <a:pathLst>
                <a:path w="7172441" h="7172441">
                  <a:moveTo>
                    <a:pt x="0" y="0"/>
                  </a:moveTo>
                  <a:lnTo>
                    <a:pt x="7172441" y="0"/>
                  </a:lnTo>
                  <a:lnTo>
                    <a:pt x="7172441" y="7172441"/>
                  </a:lnTo>
                  <a:lnTo>
                    <a:pt x="0" y="7172441"/>
                  </a:lnTo>
                  <a:lnTo>
                    <a:pt x="0" y="0"/>
                  </a:lnTo>
                  <a:close/>
                </a:path>
              </a:pathLst>
            </a:custGeom>
            <a:blipFill>
              <a:blip>
                <a:alphaModFix amt="9999"/>
                <a:extLst>
                  <a:ext uri="{96DAC541-7B7A-43D3-8B79-37D633B846F1}">
                    <asvg:svgBlip xmlns:asvg="http://schemas.microsoft.com/office/drawing/2016/SVG/main" r:embed="rId3"/>
                  </a:ext>
                </a:extLst>
              </a:blip>
              <a:stretch>
                <a:fillRect/>
              </a:stretch>
            </a:blipFill>
          </p:spPr>
          <p:txBody>
            <a:bodyPr/>
            <a:lstStyle/>
            <a:p>
              <a:endParaRPr lang="en-GB"/>
            </a:p>
          </p:txBody>
        </p:sp>
        <p:sp>
          <p:nvSpPr>
            <p:cNvPr id="4" name="Freeform 4"/>
            <p:cNvSpPr/>
            <p:nvPr/>
          </p:nvSpPr>
          <p:spPr>
            <a:xfrm>
              <a:off x="0" y="7172441"/>
              <a:ext cx="7172441" cy="7172441"/>
            </a:xfrm>
            <a:custGeom>
              <a:avLst/>
              <a:gdLst/>
              <a:ahLst/>
              <a:cxnLst/>
              <a:rect l="l" t="t" r="r" b="b"/>
              <a:pathLst>
                <a:path w="7172441" h="7172441">
                  <a:moveTo>
                    <a:pt x="0" y="0"/>
                  </a:moveTo>
                  <a:lnTo>
                    <a:pt x="7172441" y="0"/>
                  </a:lnTo>
                  <a:lnTo>
                    <a:pt x="7172441" y="7172441"/>
                  </a:lnTo>
                  <a:lnTo>
                    <a:pt x="0" y="7172441"/>
                  </a:lnTo>
                  <a:lnTo>
                    <a:pt x="0" y="0"/>
                  </a:lnTo>
                  <a:close/>
                </a:path>
              </a:pathLst>
            </a:custGeom>
            <a:blipFill>
              <a:blip>
                <a:alphaModFix amt="9999"/>
                <a:extLst>
                  <a:ext uri="{96DAC541-7B7A-43D3-8B79-37D633B846F1}">
                    <asvg:svgBlip xmlns:asvg="http://schemas.microsoft.com/office/drawing/2016/SVG/main" r:embed="rId3"/>
                  </a:ext>
                </a:extLst>
              </a:blip>
              <a:stretch>
                <a:fillRect/>
              </a:stretch>
            </a:blipFill>
          </p:spPr>
          <p:txBody>
            <a:bodyPr/>
            <a:lstStyle/>
            <a:p>
              <a:endParaRPr lang="en-GB"/>
            </a:p>
          </p:txBody>
        </p:sp>
        <p:sp>
          <p:nvSpPr>
            <p:cNvPr id="5" name="Freeform 5"/>
            <p:cNvSpPr/>
            <p:nvPr/>
          </p:nvSpPr>
          <p:spPr>
            <a:xfrm>
              <a:off x="7172441" y="0"/>
              <a:ext cx="7172441" cy="7172441"/>
            </a:xfrm>
            <a:custGeom>
              <a:avLst/>
              <a:gdLst/>
              <a:ahLst/>
              <a:cxnLst/>
              <a:rect l="l" t="t" r="r" b="b"/>
              <a:pathLst>
                <a:path w="7172441" h="7172441">
                  <a:moveTo>
                    <a:pt x="0" y="0"/>
                  </a:moveTo>
                  <a:lnTo>
                    <a:pt x="7172441" y="0"/>
                  </a:lnTo>
                  <a:lnTo>
                    <a:pt x="7172441" y="7172441"/>
                  </a:lnTo>
                  <a:lnTo>
                    <a:pt x="0" y="7172441"/>
                  </a:lnTo>
                  <a:lnTo>
                    <a:pt x="0" y="0"/>
                  </a:lnTo>
                  <a:close/>
                </a:path>
              </a:pathLst>
            </a:custGeom>
            <a:blipFill>
              <a:blip>
                <a:alphaModFix amt="9999"/>
                <a:extLst>
                  <a:ext uri="{96DAC541-7B7A-43D3-8B79-37D633B846F1}">
                    <asvg:svgBlip xmlns:asvg="http://schemas.microsoft.com/office/drawing/2016/SVG/main" r:embed="rId3"/>
                  </a:ext>
                </a:extLst>
              </a:blip>
              <a:stretch>
                <a:fillRect/>
              </a:stretch>
            </a:blipFill>
          </p:spPr>
          <p:txBody>
            <a:bodyPr/>
            <a:lstStyle/>
            <a:p>
              <a:endParaRPr lang="en-GB"/>
            </a:p>
          </p:txBody>
        </p:sp>
        <p:sp>
          <p:nvSpPr>
            <p:cNvPr id="6" name="Freeform 6"/>
            <p:cNvSpPr/>
            <p:nvPr/>
          </p:nvSpPr>
          <p:spPr>
            <a:xfrm>
              <a:off x="7172441" y="7172441"/>
              <a:ext cx="7172441" cy="7172441"/>
            </a:xfrm>
            <a:custGeom>
              <a:avLst/>
              <a:gdLst/>
              <a:ahLst/>
              <a:cxnLst/>
              <a:rect l="l" t="t" r="r" b="b"/>
              <a:pathLst>
                <a:path w="7172441" h="7172441">
                  <a:moveTo>
                    <a:pt x="0" y="0"/>
                  </a:moveTo>
                  <a:lnTo>
                    <a:pt x="7172441" y="0"/>
                  </a:lnTo>
                  <a:lnTo>
                    <a:pt x="7172441" y="7172441"/>
                  </a:lnTo>
                  <a:lnTo>
                    <a:pt x="0" y="7172441"/>
                  </a:lnTo>
                  <a:lnTo>
                    <a:pt x="0" y="0"/>
                  </a:lnTo>
                  <a:close/>
                </a:path>
              </a:pathLst>
            </a:custGeom>
            <a:blipFill>
              <a:blip>
                <a:alphaModFix amt="9999"/>
                <a:extLst>
                  <a:ext uri="{96DAC541-7B7A-43D3-8B79-37D633B846F1}">
                    <asvg:svgBlip xmlns:asvg="http://schemas.microsoft.com/office/drawing/2016/SVG/main" r:embed="rId3"/>
                  </a:ext>
                </a:extLst>
              </a:blip>
              <a:stretch>
                <a:fillRect/>
              </a:stretch>
            </a:blipFill>
          </p:spPr>
          <p:txBody>
            <a:bodyPr/>
            <a:lstStyle/>
            <a:p>
              <a:endParaRPr lang="en-GB"/>
            </a:p>
          </p:txBody>
        </p:sp>
        <p:sp>
          <p:nvSpPr>
            <p:cNvPr id="7" name="Freeform 7"/>
            <p:cNvSpPr/>
            <p:nvPr/>
          </p:nvSpPr>
          <p:spPr>
            <a:xfrm>
              <a:off x="14344882" y="0"/>
              <a:ext cx="7172441" cy="7172441"/>
            </a:xfrm>
            <a:custGeom>
              <a:avLst/>
              <a:gdLst/>
              <a:ahLst/>
              <a:cxnLst/>
              <a:rect l="l" t="t" r="r" b="b"/>
              <a:pathLst>
                <a:path w="7172441" h="7172441">
                  <a:moveTo>
                    <a:pt x="0" y="0"/>
                  </a:moveTo>
                  <a:lnTo>
                    <a:pt x="7172442" y="0"/>
                  </a:lnTo>
                  <a:lnTo>
                    <a:pt x="7172442" y="7172441"/>
                  </a:lnTo>
                  <a:lnTo>
                    <a:pt x="0" y="7172441"/>
                  </a:lnTo>
                  <a:lnTo>
                    <a:pt x="0" y="0"/>
                  </a:lnTo>
                  <a:close/>
                </a:path>
              </a:pathLst>
            </a:custGeom>
            <a:blipFill>
              <a:blip>
                <a:alphaModFix amt="9999"/>
                <a:extLst>
                  <a:ext uri="{96DAC541-7B7A-43D3-8B79-37D633B846F1}">
                    <asvg:svgBlip xmlns:asvg="http://schemas.microsoft.com/office/drawing/2016/SVG/main" r:embed="rId3"/>
                  </a:ext>
                </a:extLst>
              </a:blip>
              <a:stretch>
                <a:fillRect/>
              </a:stretch>
            </a:blipFill>
          </p:spPr>
          <p:txBody>
            <a:bodyPr/>
            <a:lstStyle/>
            <a:p>
              <a:endParaRPr lang="en-GB"/>
            </a:p>
          </p:txBody>
        </p:sp>
        <p:sp>
          <p:nvSpPr>
            <p:cNvPr id="8" name="Freeform 8"/>
            <p:cNvSpPr/>
            <p:nvPr/>
          </p:nvSpPr>
          <p:spPr>
            <a:xfrm>
              <a:off x="14344882" y="7172441"/>
              <a:ext cx="7172441" cy="7172441"/>
            </a:xfrm>
            <a:custGeom>
              <a:avLst/>
              <a:gdLst/>
              <a:ahLst/>
              <a:cxnLst/>
              <a:rect l="l" t="t" r="r" b="b"/>
              <a:pathLst>
                <a:path w="7172441" h="7172441">
                  <a:moveTo>
                    <a:pt x="0" y="0"/>
                  </a:moveTo>
                  <a:lnTo>
                    <a:pt x="7172442" y="0"/>
                  </a:lnTo>
                  <a:lnTo>
                    <a:pt x="7172442" y="7172441"/>
                  </a:lnTo>
                  <a:lnTo>
                    <a:pt x="0" y="7172441"/>
                  </a:lnTo>
                  <a:lnTo>
                    <a:pt x="0" y="0"/>
                  </a:lnTo>
                  <a:close/>
                </a:path>
              </a:pathLst>
            </a:custGeom>
            <a:blipFill>
              <a:blip>
                <a:alphaModFix amt="9999"/>
                <a:extLst>
                  <a:ext uri="{96DAC541-7B7A-43D3-8B79-37D633B846F1}">
                    <asvg:svgBlip xmlns:asvg="http://schemas.microsoft.com/office/drawing/2016/SVG/main" r:embed="rId3"/>
                  </a:ext>
                </a:extLst>
              </a:blip>
              <a:stretch>
                <a:fillRect/>
              </a:stretch>
            </a:blipFill>
          </p:spPr>
          <p:txBody>
            <a:bodyPr/>
            <a:lstStyle/>
            <a:p>
              <a:endParaRPr lang="en-GB"/>
            </a:p>
          </p:txBody>
        </p:sp>
        <p:sp>
          <p:nvSpPr>
            <p:cNvPr id="9" name="Freeform 9"/>
            <p:cNvSpPr/>
            <p:nvPr/>
          </p:nvSpPr>
          <p:spPr>
            <a:xfrm>
              <a:off x="21517324" y="0"/>
              <a:ext cx="7172441" cy="7172441"/>
            </a:xfrm>
            <a:custGeom>
              <a:avLst/>
              <a:gdLst/>
              <a:ahLst/>
              <a:cxnLst/>
              <a:rect l="l" t="t" r="r" b="b"/>
              <a:pathLst>
                <a:path w="7172441" h="7172441">
                  <a:moveTo>
                    <a:pt x="0" y="0"/>
                  </a:moveTo>
                  <a:lnTo>
                    <a:pt x="7172441" y="0"/>
                  </a:lnTo>
                  <a:lnTo>
                    <a:pt x="7172441" y="7172441"/>
                  </a:lnTo>
                  <a:lnTo>
                    <a:pt x="0" y="7172441"/>
                  </a:lnTo>
                  <a:lnTo>
                    <a:pt x="0" y="0"/>
                  </a:lnTo>
                  <a:close/>
                </a:path>
              </a:pathLst>
            </a:custGeom>
            <a:blipFill>
              <a:blip>
                <a:alphaModFix amt="9999"/>
                <a:extLst>
                  <a:ext uri="{96DAC541-7B7A-43D3-8B79-37D633B846F1}">
                    <asvg:svgBlip xmlns:asvg="http://schemas.microsoft.com/office/drawing/2016/SVG/main" r:embed="rId3"/>
                  </a:ext>
                </a:extLst>
              </a:blip>
              <a:stretch>
                <a:fillRect/>
              </a:stretch>
            </a:blipFill>
          </p:spPr>
          <p:txBody>
            <a:bodyPr/>
            <a:lstStyle/>
            <a:p>
              <a:endParaRPr lang="en-GB"/>
            </a:p>
          </p:txBody>
        </p:sp>
        <p:sp>
          <p:nvSpPr>
            <p:cNvPr id="10" name="Freeform 10"/>
            <p:cNvSpPr/>
            <p:nvPr/>
          </p:nvSpPr>
          <p:spPr>
            <a:xfrm>
              <a:off x="21517324" y="7172441"/>
              <a:ext cx="7172441" cy="7172441"/>
            </a:xfrm>
            <a:custGeom>
              <a:avLst/>
              <a:gdLst/>
              <a:ahLst/>
              <a:cxnLst/>
              <a:rect l="l" t="t" r="r" b="b"/>
              <a:pathLst>
                <a:path w="7172441" h="7172441">
                  <a:moveTo>
                    <a:pt x="0" y="0"/>
                  </a:moveTo>
                  <a:lnTo>
                    <a:pt x="7172441" y="0"/>
                  </a:lnTo>
                  <a:lnTo>
                    <a:pt x="7172441" y="7172441"/>
                  </a:lnTo>
                  <a:lnTo>
                    <a:pt x="0" y="7172441"/>
                  </a:lnTo>
                  <a:lnTo>
                    <a:pt x="0" y="0"/>
                  </a:lnTo>
                  <a:close/>
                </a:path>
              </a:pathLst>
            </a:custGeom>
            <a:blipFill>
              <a:blip>
                <a:alphaModFix amt="9999"/>
                <a:extLst>
                  <a:ext uri="{96DAC541-7B7A-43D3-8B79-37D633B846F1}">
                    <asvg:svgBlip xmlns:asvg="http://schemas.microsoft.com/office/drawing/2016/SVG/main" r:embed="rId3"/>
                  </a:ext>
                </a:extLst>
              </a:blip>
              <a:stretch>
                <a:fillRect/>
              </a:stretch>
            </a:blipFill>
          </p:spPr>
          <p:txBody>
            <a:bodyPr/>
            <a:lstStyle/>
            <a:p>
              <a:endParaRPr lang="en-GB"/>
            </a:p>
          </p:txBody>
        </p:sp>
      </p:grpSp>
      <p:grpSp>
        <p:nvGrpSpPr>
          <p:cNvPr id="11" name="Group 11"/>
          <p:cNvGrpSpPr/>
          <p:nvPr/>
        </p:nvGrpSpPr>
        <p:grpSpPr>
          <a:xfrm>
            <a:off x="15066413" y="683012"/>
            <a:ext cx="2065807" cy="749445"/>
            <a:chOff x="0" y="0"/>
            <a:chExt cx="1120221" cy="406400"/>
          </a:xfrm>
        </p:grpSpPr>
        <p:sp>
          <p:nvSpPr>
            <p:cNvPr id="12" name="Freeform 12"/>
            <p:cNvSpPr/>
            <p:nvPr/>
          </p:nvSpPr>
          <p:spPr>
            <a:xfrm>
              <a:off x="0" y="0"/>
              <a:ext cx="1120221" cy="406400"/>
            </a:xfrm>
            <a:custGeom>
              <a:avLst/>
              <a:gdLst/>
              <a:ahLst/>
              <a:cxnLst/>
              <a:rect l="l" t="t" r="r" b="b"/>
              <a:pathLst>
                <a:path w="1120221" h="406400">
                  <a:moveTo>
                    <a:pt x="917021" y="0"/>
                  </a:moveTo>
                  <a:cubicBezTo>
                    <a:pt x="1029246" y="0"/>
                    <a:pt x="1120221" y="90976"/>
                    <a:pt x="1120221" y="203200"/>
                  </a:cubicBezTo>
                  <a:cubicBezTo>
                    <a:pt x="1120221" y="315424"/>
                    <a:pt x="1029246" y="406400"/>
                    <a:pt x="917021" y="406400"/>
                  </a:cubicBezTo>
                  <a:lnTo>
                    <a:pt x="203200" y="406400"/>
                  </a:lnTo>
                  <a:cubicBezTo>
                    <a:pt x="90976" y="406400"/>
                    <a:pt x="0" y="315424"/>
                    <a:pt x="0" y="203200"/>
                  </a:cubicBezTo>
                  <a:cubicBezTo>
                    <a:pt x="0" y="90976"/>
                    <a:pt x="90976" y="0"/>
                    <a:pt x="203200" y="0"/>
                  </a:cubicBezTo>
                  <a:close/>
                </a:path>
              </a:pathLst>
            </a:custGeom>
            <a:solidFill>
              <a:srgbClr val="343434"/>
            </a:solidFill>
          </p:spPr>
          <p:txBody>
            <a:bodyPr/>
            <a:lstStyle/>
            <a:p>
              <a:endParaRPr lang="en-GB"/>
            </a:p>
          </p:txBody>
        </p:sp>
        <p:sp>
          <p:nvSpPr>
            <p:cNvPr id="13" name="TextBox 13"/>
            <p:cNvSpPr txBox="1"/>
            <p:nvPr/>
          </p:nvSpPr>
          <p:spPr>
            <a:xfrm>
              <a:off x="0" y="-38100"/>
              <a:ext cx="1120221" cy="444500"/>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678247" y="582893"/>
            <a:ext cx="15421069" cy="1192634"/>
          </a:xfrm>
          <a:prstGeom prst="rect">
            <a:avLst/>
          </a:prstGeom>
        </p:spPr>
        <p:txBody>
          <a:bodyPr wrap="square" lIns="0" tIns="0" rIns="0" bIns="0" rtlCol="0" anchor="t">
            <a:spAutoFit/>
          </a:bodyPr>
          <a:lstStyle/>
          <a:p>
            <a:pPr algn="ctr">
              <a:lnSpc>
                <a:spcPts val="9199"/>
              </a:lnSpc>
            </a:pPr>
            <a:r>
              <a:rPr lang="en-US" sz="8000" dirty="0">
                <a:solidFill>
                  <a:srgbClr val="3A3E61"/>
                </a:solidFill>
                <a:latin typeface="Extenda 90 Exa"/>
                <a:ea typeface="Extenda 90 Exa"/>
                <a:cs typeface="Extenda 90 Exa"/>
                <a:sym typeface="Extenda 90 Exa"/>
              </a:rPr>
              <a:t>Problem Statement </a:t>
            </a:r>
          </a:p>
        </p:txBody>
      </p:sp>
      <p:sp>
        <p:nvSpPr>
          <p:cNvPr id="15" name="TextBox 15"/>
          <p:cNvSpPr txBox="1"/>
          <p:nvPr/>
        </p:nvSpPr>
        <p:spPr>
          <a:xfrm>
            <a:off x="15425164" y="837629"/>
            <a:ext cx="1094217" cy="410718"/>
          </a:xfrm>
          <a:prstGeom prst="rect">
            <a:avLst/>
          </a:prstGeom>
        </p:spPr>
        <p:txBody>
          <a:bodyPr lIns="0" tIns="0" rIns="0" bIns="0" rtlCol="0" anchor="t">
            <a:spAutoFit/>
          </a:bodyPr>
          <a:lstStyle/>
          <a:p>
            <a:pPr algn="l">
              <a:lnSpc>
                <a:spcPts val="3275"/>
              </a:lnSpc>
            </a:pPr>
            <a:r>
              <a:rPr lang="en-US" sz="2799" b="1">
                <a:solidFill>
                  <a:srgbClr val="FFFFFF"/>
                </a:solidFill>
                <a:latin typeface="TT Fors Bold"/>
                <a:ea typeface="TT Fors Bold"/>
                <a:cs typeface="TT Fors Bold"/>
                <a:sym typeface="TT Fors Bold"/>
              </a:rPr>
              <a:t>Page</a:t>
            </a:r>
          </a:p>
        </p:txBody>
      </p:sp>
      <p:grpSp>
        <p:nvGrpSpPr>
          <p:cNvPr id="16" name="Group 16"/>
          <p:cNvGrpSpPr/>
          <p:nvPr/>
        </p:nvGrpSpPr>
        <p:grpSpPr>
          <a:xfrm>
            <a:off x="16543936" y="646641"/>
            <a:ext cx="822187" cy="822187"/>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3E61"/>
            </a:solidFill>
          </p:spPr>
          <p:txBody>
            <a:bodyPr/>
            <a:lstStyle/>
            <a:p>
              <a:endParaRPr lang="en-GB"/>
            </a:p>
          </p:txBody>
        </p:sp>
        <p:sp>
          <p:nvSpPr>
            <p:cNvPr id="18" name="TextBox 18"/>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9" name="TextBox 19"/>
          <p:cNvSpPr txBox="1"/>
          <p:nvPr/>
        </p:nvSpPr>
        <p:spPr>
          <a:xfrm>
            <a:off x="16572511" y="818579"/>
            <a:ext cx="749445" cy="547116"/>
          </a:xfrm>
          <a:prstGeom prst="rect">
            <a:avLst/>
          </a:prstGeom>
        </p:spPr>
        <p:txBody>
          <a:bodyPr lIns="0" tIns="0" rIns="0" bIns="0" rtlCol="0" anchor="t">
            <a:spAutoFit/>
          </a:bodyPr>
          <a:lstStyle/>
          <a:p>
            <a:pPr algn="ctr">
              <a:lnSpc>
                <a:spcPts val="4211"/>
              </a:lnSpc>
            </a:pPr>
            <a:r>
              <a:rPr lang="en-US" sz="3599">
                <a:solidFill>
                  <a:srgbClr val="FFFFFF"/>
                </a:solidFill>
                <a:latin typeface="Extenda 90 Exa"/>
                <a:ea typeface="Extenda 90 Exa"/>
                <a:cs typeface="Extenda 90 Exa"/>
                <a:sym typeface="Extenda 90 Exa"/>
              </a:rPr>
              <a:t>03</a:t>
            </a:r>
          </a:p>
        </p:txBody>
      </p:sp>
      <p:sp>
        <p:nvSpPr>
          <p:cNvPr id="20" name="TextBox 20"/>
          <p:cNvSpPr txBox="1"/>
          <p:nvPr/>
        </p:nvSpPr>
        <p:spPr>
          <a:xfrm>
            <a:off x="841938" y="2453834"/>
            <a:ext cx="16604123" cy="6624891"/>
          </a:xfrm>
          <a:prstGeom prst="rect">
            <a:avLst/>
          </a:prstGeom>
        </p:spPr>
        <p:txBody>
          <a:bodyPr wrap="square" lIns="0" tIns="0" rIns="0" bIns="0" rtlCol="0" anchor="t">
            <a:spAutoFit/>
          </a:bodyPr>
          <a:lstStyle/>
          <a:p>
            <a:r>
              <a:rPr lang="en-GB" sz="3200" dirty="0">
                <a:solidFill>
                  <a:srgbClr val="3A3E61"/>
                </a:solidFill>
                <a:latin typeface="TT Fors"/>
              </a:rPr>
              <a:t>In dense multi-agent grid environments, textbook pathfinding (like standard A*) leads to severe traffic jams, head-on collisions, and deadlocks</a:t>
            </a:r>
            <a:br>
              <a:rPr lang="en-GB" sz="3600" dirty="0"/>
            </a:br>
            <a:br>
              <a:rPr lang="en-GB" sz="3600" dirty="0"/>
            </a:br>
            <a:br>
              <a:rPr lang="en-GB" sz="3600" dirty="0"/>
            </a:br>
            <a:r>
              <a:rPr lang="en-US" sz="7200" b="1" dirty="0">
                <a:solidFill>
                  <a:srgbClr val="3A3E61"/>
                </a:solidFill>
                <a:latin typeface="TT Fors Bold"/>
                <a:ea typeface="TT Fors Bold"/>
                <a:cs typeface="TT Fors Bold"/>
                <a:sym typeface="TT Fors Bold"/>
              </a:rPr>
              <a:t>Objectives</a:t>
            </a:r>
            <a:br>
              <a:rPr lang="en-US" sz="3200" b="1" dirty="0">
                <a:solidFill>
                  <a:srgbClr val="3A3E61"/>
                </a:solidFill>
                <a:latin typeface="TT Fors Bold"/>
                <a:ea typeface="TT Fors Bold"/>
                <a:cs typeface="TT Fors Bold"/>
                <a:sym typeface="TT Fors Bold"/>
              </a:rPr>
            </a:br>
            <a:br>
              <a:rPr lang="en-US" sz="3200" b="1" dirty="0">
                <a:solidFill>
                  <a:srgbClr val="3A3E61"/>
                </a:solidFill>
                <a:latin typeface="TT Fors Bold"/>
                <a:ea typeface="TT Fors Bold"/>
                <a:cs typeface="TT Fors Bold"/>
                <a:sym typeface="TT Fors Bold"/>
              </a:rPr>
            </a:br>
            <a:endParaRPr lang="en-US" sz="3200" b="1" dirty="0">
              <a:solidFill>
                <a:srgbClr val="3A3E61"/>
              </a:solidFill>
              <a:latin typeface="TT Fors Bold"/>
              <a:ea typeface="TT Fors Bold"/>
              <a:cs typeface="TT Fors Bold"/>
              <a:sym typeface="TT Fors Bold"/>
            </a:endParaRPr>
          </a:p>
          <a:p>
            <a:pPr marL="514350" lvl="0" indent="-514350" algn="just">
              <a:buFont typeface="+mj-lt"/>
              <a:buAutoNum type="arabicPeriod"/>
            </a:pPr>
            <a:r>
              <a:rPr lang="en-GB" sz="3200" dirty="0">
                <a:solidFill>
                  <a:srgbClr val="3A3E61"/>
                </a:solidFill>
                <a:latin typeface="TT Fors"/>
              </a:rPr>
              <a:t>Implement a highly optimized A* search algorithm using a custom binary heap.</a:t>
            </a:r>
          </a:p>
          <a:p>
            <a:pPr marL="514350" lvl="0" indent="-514350" algn="just">
              <a:buFont typeface="+mj-lt"/>
              <a:buAutoNum type="arabicPeriod"/>
            </a:pPr>
            <a:r>
              <a:rPr lang="en-GB" sz="3200" dirty="0">
                <a:solidFill>
                  <a:srgbClr val="3A3E61"/>
                </a:solidFill>
                <a:latin typeface="TT Fors"/>
              </a:rPr>
              <a:t>Develop a "Baseline" controller using standard cell-reservation and wait-timeouts.</a:t>
            </a:r>
          </a:p>
          <a:p>
            <a:pPr marL="514350" lvl="0" indent="-514350" algn="just">
              <a:buFont typeface="+mj-lt"/>
              <a:buAutoNum type="arabicPeriod"/>
            </a:pPr>
            <a:r>
              <a:rPr lang="en-GB" sz="3200" dirty="0">
                <a:solidFill>
                  <a:srgbClr val="3A3E61"/>
                </a:solidFill>
                <a:latin typeface="TT Fors"/>
              </a:rPr>
              <a:t>Develop a "Flagship" controller integrating </a:t>
            </a:r>
            <a:r>
              <a:rPr lang="en-GB" sz="3200" dirty="0" err="1">
                <a:solidFill>
                  <a:srgbClr val="3A3E61"/>
                </a:solidFill>
                <a:latin typeface="TT Fors"/>
              </a:rPr>
              <a:t>Boid</a:t>
            </a:r>
            <a:r>
              <a:rPr lang="en-GB" sz="3200" dirty="0">
                <a:solidFill>
                  <a:srgbClr val="3A3E61"/>
                </a:solidFill>
                <a:latin typeface="TT Fors"/>
              </a:rPr>
              <a:t>-like swarm rules into the grid.</a:t>
            </a:r>
          </a:p>
          <a:p>
            <a:pPr marL="514350" lvl="0" indent="-514350" algn="just">
              <a:buFont typeface="+mj-lt"/>
              <a:buAutoNum type="arabicPeriod"/>
            </a:pPr>
            <a:r>
              <a:rPr lang="en-GB" sz="3200" dirty="0">
                <a:solidFill>
                  <a:srgbClr val="3A3E61"/>
                </a:solidFill>
                <a:latin typeface="TT Fors"/>
              </a:rPr>
              <a:t>Provide real-time telemetry to measure efficiency (latency, wait times, reroutes).</a:t>
            </a:r>
          </a:p>
          <a:p>
            <a:pPr>
              <a:lnSpc>
                <a:spcPts val="3636"/>
              </a:lnSpc>
            </a:pPr>
            <a:endParaRPr lang="en-US" sz="3200" dirty="0">
              <a:solidFill>
                <a:srgbClr val="3A3E61"/>
              </a:solidFill>
              <a:latin typeface="TT Fors"/>
              <a:ea typeface="TT Fors"/>
              <a:cs typeface="TT Fors"/>
              <a:sym typeface="TT For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1EDE2"/>
        </a:solidFill>
        <a:effectLst/>
      </p:bgPr>
    </p:bg>
    <p:spTree>
      <p:nvGrpSpPr>
        <p:cNvPr id="1" name=""/>
        <p:cNvGrpSpPr/>
        <p:nvPr/>
      </p:nvGrpSpPr>
      <p:grpSpPr>
        <a:xfrm>
          <a:off x="0" y="0"/>
          <a:ext cx="0" cy="0"/>
          <a:chOff x="0" y="0"/>
          <a:chExt cx="0" cy="0"/>
        </a:xfrm>
      </p:grpSpPr>
      <p:grpSp>
        <p:nvGrpSpPr>
          <p:cNvPr id="2" name="Group 2"/>
          <p:cNvGrpSpPr/>
          <p:nvPr/>
        </p:nvGrpSpPr>
        <p:grpSpPr>
          <a:xfrm>
            <a:off x="-1614662" y="-235831"/>
            <a:ext cx="21517324" cy="10758662"/>
            <a:chOff x="0" y="0"/>
            <a:chExt cx="28689765" cy="14344882"/>
          </a:xfrm>
        </p:grpSpPr>
        <p:sp>
          <p:nvSpPr>
            <p:cNvPr id="3" name="Freeform 3"/>
            <p:cNvSpPr/>
            <p:nvPr/>
          </p:nvSpPr>
          <p:spPr>
            <a:xfrm>
              <a:off x="0" y="0"/>
              <a:ext cx="7172441" cy="7172441"/>
            </a:xfrm>
            <a:custGeom>
              <a:avLst/>
              <a:gdLst/>
              <a:ahLst/>
              <a:cxnLst/>
              <a:rect l="l" t="t" r="r" b="b"/>
              <a:pathLst>
                <a:path w="7172441" h="7172441">
                  <a:moveTo>
                    <a:pt x="0" y="0"/>
                  </a:moveTo>
                  <a:lnTo>
                    <a:pt x="7172441" y="0"/>
                  </a:lnTo>
                  <a:lnTo>
                    <a:pt x="7172441" y="7172441"/>
                  </a:lnTo>
                  <a:lnTo>
                    <a:pt x="0" y="7172441"/>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txBody>
            <a:bodyPr/>
            <a:lstStyle/>
            <a:p>
              <a:endParaRPr lang="en-GB"/>
            </a:p>
          </p:txBody>
        </p:sp>
        <p:sp>
          <p:nvSpPr>
            <p:cNvPr id="4" name="Freeform 4"/>
            <p:cNvSpPr/>
            <p:nvPr/>
          </p:nvSpPr>
          <p:spPr>
            <a:xfrm>
              <a:off x="0" y="7172441"/>
              <a:ext cx="7172441" cy="7172441"/>
            </a:xfrm>
            <a:custGeom>
              <a:avLst/>
              <a:gdLst/>
              <a:ahLst/>
              <a:cxnLst/>
              <a:rect l="l" t="t" r="r" b="b"/>
              <a:pathLst>
                <a:path w="7172441" h="7172441">
                  <a:moveTo>
                    <a:pt x="0" y="0"/>
                  </a:moveTo>
                  <a:lnTo>
                    <a:pt x="7172441" y="0"/>
                  </a:lnTo>
                  <a:lnTo>
                    <a:pt x="7172441" y="7172441"/>
                  </a:lnTo>
                  <a:lnTo>
                    <a:pt x="0" y="7172441"/>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txBody>
            <a:bodyPr/>
            <a:lstStyle/>
            <a:p>
              <a:endParaRPr lang="en-GB"/>
            </a:p>
          </p:txBody>
        </p:sp>
        <p:sp>
          <p:nvSpPr>
            <p:cNvPr id="5" name="Freeform 5"/>
            <p:cNvSpPr/>
            <p:nvPr/>
          </p:nvSpPr>
          <p:spPr>
            <a:xfrm>
              <a:off x="7172441" y="0"/>
              <a:ext cx="7172441" cy="7172441"/>
            </a:xfrm>
            <a:custGeom>
              <a:avLst/>
              <a:gdLst/>
              <a:ahLst/>
              <a:cxnLst/>
              <a:rect l="l" t="t" r="r" b="b"/>
              <a:pathLst>
                <a:path w="7172441" h="7172441">
                  <a:moveTo>
                    <a:pt x="0" y="0"/>
                  </a:moveTo>
                  <a:lnTo>
                    <a:pt x="7172441" y="0"/>
                  </a:lnTo>
                  <a:lnTo>
                    <a:pt x="7172441" y="7172441"/>
                  </a:lnTo>
                  <a:lnTo>
                    <a:pt x="0" y="7172441"/>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txBody>
            <a:bodyPr/>
            <a:lstStyle/>
            <a:p>
              <a:endParaRPr lang="en-GB"/>
            </a:p>
          </p:txBody>
        </p:sp>
        <p:sp>
          <p:nvSpPr>
            <p:cNvPr id="6" name="Freeform 6"/>
            <p:cNvSpPr/>
            <p:nvPr/>
          </p:nvSpPr>
          <p:spPr>
            <a:xfrm>
              <a:off x="7172441" y="7172441"/>
              <a:ext cx="7172441" cy="7172441"/>
            </a:xfrm>
            <a:custGeom>
              <a:avLst/>
              <a:gdLst/>
              <a:ahLst/>
              <a:cxnLst/>
              <a:rect l="l" t="t" r="r" b="b"/>
              <a:pathLst>
                <a:path w="7172441" h="7172441">
                  <a:moveTo>
                    <a:pt x="0" y="0"/>
                  </a:moveTo>
                  <a:lnTo>
                    <a:pt x="7172441" y="0"/>
                  </a:lnTo>
                  <a:lnTo>
                    <a:pt x="7172441" y="7172441"/>
                  </a:lnTo>
                  <a:lnTo>
                    <a:pt x="0" y="7172441"/>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txBody>
            <a:bodyPr/>
            <a:lstStyle/>
            <a:p>
              <a:endParaRPr lang="en-GB"/>
            </a:p>
          </p:txBody>
        </p:sp>
        <p:sp>
          <p:nvSpPr>
            <p:cNvPr id="7" name="Freeform 7"/>
            <p:cNvSpPr/>
            <p:nvPr/>
          </p:nvSpPr>
          <p:spPr>
            <a:xfrm>
              <a:off x="14344882" y="0"/>
              <a:ext cx="7172441" cy="7172441"/>
            </a:xfrm>
            <a:custGeom>
              <a:avLst/>
              <a:gdLst/>
              <a:ahLst/>
              <a:cxnLst/>
              <a:rect l="l" t="t" r="r" b="b"/>
              <a:pathLst>
                <a:path w="7172441" h="7172441">
                  <a:moveTo>
                    <a:pt x="0" y="0"/>
                  </a:moveTo>
                  <a:lnTo>
                    <a:pt x="7172442" y="0"/>
                  </a:lnTo>
                  <a:lnTo>
                    <a:pt x="7172442" y="7172441"/>
                  </a:lnTo>
                  <a:lnTo>
                    <a:pt x="0" y="7172441"/>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txBody>
            <a:bodyPr/>
            <a:lstStyle/>
            <a:p>
              <a:endParaRPr lang="en-GB"/>
            </a:p>
          </p:txBody>
        </p:sp>
        <p:sp>
          <p:nvSpPr>
            <p:cNvPr id="8" name="Freeform 8"/>
            <p:cNvSpPr/>
            <p:nvPr/>
          </p:nvSpPr>
          <p:spPr>
            <a:xfrm>
              <a:off x="14344882" y="7172441"/>
              <a:ext cx="7172441" cy="7172441"/>
            </a:xfrm>
            <a:custGeom>
              <a:avLst/>
              <a:gdLst/>
              <a:ahLst/>
              <a:cxnLst/>
              <a:rect l="l" t="t" r="r" b="b"/>
              <a:pathLst>
                <a:path w="7172441" h="7172441">
                  <a:moveTo>
                    <a:pt x="0" y="0"/>
                  </a:moveTo>
                  <a:lnTo>
                    <a:pt x="7172442" y="0"/>
                  </a:lnTo>
                  <a:lnTo>
                    <a:pt x="7172442" y="7172441"/>
                  </a:lnTo>
                  <a:lnTo>
                    <a:pt x="0" y="7172441"/>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txBody>
            <a:bodyPr/>
            <a:lstStyle/>
            <a:p>
              <a:endParaRPr lang="en-GB"/>
            </a:p>
          </p:txBody>
        </p:sp>
        <p:sp>
          <p:nvSpPr>
            <p:cNvPr id="9" name="Freeform 9"/>
            <p:cNvSpPr/>
            <p:nvPr/>
          </p:nvSpPr>
          <p:spPr>
            <a:xfrm>
              <a:off x="21517324" y="0"/>
              <a:ext cx="7172441" cy="7172441"/>
            </a:xfrm>
            <a:custGeom>
              <a:avLst/>
              <a:gdLst/>
              <a:ahLst/>
              <a:cxnLst/>
              <a:rect l="l" t="t" r="r" b="b"/>
              <a:pathLst>
                <a:path w="7172441" h="7172441">
                  <a:moveTo>
                    <a:pt x="0" y="0"/>
                  </a:moveTo>
                  <a:lnTo>
                    <a:pt x="7172441" y="0"/>
                  </a:lnTo>
                  <a:lnTo>
                    <a:pt x="7172441" y="7172441"/>
                  </a:lnTo>
                  <a:lnTo>
                    <a:pt x="0" y="7172441"/>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txBody>
            <a:bodyPr/>
            <a:lstStyle/>
            <a:p>
              <a:endParaRPr lang="en-GB"/>
            </a:p>
          </p:txBody>
        </p:sp>
        <p:sp>
          <p:nvSpPr>
            <p:cNvPr id="10" name="Freeform 10"/>
            <p:cNvSpPr/>
            <p:nvPr/>
          </p:nvSpPr>
          <p:spPr>
            <a:xfrm>
              <a:off x="21517324" y="7172441"/>
              <a:ext cx="7172441" cy="7172441"/>
            </a:xfrm>
            <a:custGeom>
              <a:avLst/>
              <a:gdLst/>
              <a:ahLst/>
              <a:cxnLst/>
              <a:rect l="l" t="t" r="r" b="b"/>
              <a:pathLst>
                <a:path w="7172441" h="7172441">
                  <a:moveTo>
                    <a:pt x="0" y="0"/>
                  </a:moveTo>
                  <a:lnTo>
                    <a:pt x="7172441" y="0"/>
                  </a:lnTo>
                  <a:lnTo>
                    <a:pt x="7172441" y="7172441"/>
                  </a:lnTo>
                  <a:lnTo>
                    <a:pt x="0" y="7172441"/>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txBody>
            <a:bodyPr/>
            <a:lstStyle/>
            <a:p>
              <a:endParaRPr lang="en-GB"/>
            </a:p>
          </p:txBody>
        </p:sp>
      </p:grpSp>
      <p:grpSp>
        <p:nvGrpSpPr>
          <p:cNvPr id="11" name="Group 11"/>
          <p:cNvGrpSpPr/>
          <p:nvPr/>
        </p:nvGrpSpPr>
        <p:grpSpPr>
          <a:xfrm>
            <a:off x="15066413" y="683012"/>
            <a:ext cx="2065807" cy="749445"/>
            <a:chOff x="0" y="0"/>
            <a:chExt cx="1120221" cy="406400"/>
          </a:xfrm>
        </p:grpSpPr>
        <p:sp>
          <p:nvSpPr>
            <p:cNvPr id="12" name="Freeform 12"/>
            <p:cNvSpPr/>
            <p:nvPr/>
          </p:nvSpPr>
          <p:spPr>
            <a:xfrm>
              <a:off x="0" y="0"/>
              <a:ext cx="1120221" cy="406400"/>
            </a:xfrm>
            <a:custGeom>
              <a:avLst/>
              <a:gdLst/>
              <a:ahLst/>
              <a:cxnLst/>
              <a:rect l="l" t="t" r="r" b="b"/>
              <a:pathLst>
                <a:path w="1120221" h="406400">
                  <a:moveTo>
                    <a:pt x="917021" y="0"/>
                  </a:moveTo>
                  <a:cubicBezTo>
                    <a:pt x="1029246" y="0"/>
                    <a:pt x="1120221" y="90976"/>
                    <a:pt x="1120221" y="203200"/>
                  </a:cubicBezTo>
                  <a:cubicBezTo>
                    <a:pt x="1120221" y="315424"/>
                    <a:pt x="1029246" y="406400"/>
                    <a:pt x="917021" y="406400"/>
                  </a:cubicBezTo>
                  <a:lnTo>
                    <a:pt x="203200" y="406400"/>
                  </a:lnTo>
                  <a:cubicBezTo>
                    <a:pt x="90976" y="406400"/>
                    <a:pt x="0" y="315424"/>
                    <a:pt x="0" y="203200"/>
                  </a:cubicBezTo>
                  <a:cubicBezTo>
                    <a:pt x="0" y="90976"/>
                    <a:pt x="90976" y="0"/>
                    <a:pt x="203200" y="0"/>
                  </a:cubicBezTo>
                  <a:close/>
                </a:path>
              </a:pathLst>
            </a:custGeom>
            <a:solidFill>
              <a:srgbClr val="343434"/>
            </a:solidFill>
          </p:spPr>
          <p:txBody>
            <a:bodyPr/>
            <a:lstStyle/>
            <a:p>
              <a:endParaRPr lang="en-GB"/>
            </a:p>
          </p:txBody>
        </p:sp>
        <p:sp>
          <p:nvSpPr>
            <p:cNvPr id="13" name="TextBox 13"/>
            <p:cNvSpPr txBox="1"/>
            <p:nvPr/>
          </p:nvSpPr>
          <p:spPr>
            <a:xfrm>
              <a:off x="0" y="-38100"/>
              <a:ext cx="1120221" cy="444500"/>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1282646" y="917496"/>
            <a:ext cx="13626944" cy="1282980"/>
          </a:xfrm>
          <a:prstGeom prst="rect">
            <a:avLst/>
          </a:prstGeom>
        </p:spPr>
        <p:txBody>
          <a:bodyPr lIns="0" tIns="0" rIns="0" bIns="0" rtlCol="0" anchor="t">
            <a:spAutoFit/>
          </a:bodyPr>
          <a:lstStyle/>
          <a:p>
            <a:pPr algn="l">
              <a:lnSpc>
                <a:spcPts val="8879"/>
              </a:lnSpc>
            </a:pPr>
            <a:r>
              <a:rPr lang="en-US" sz="11099" dirty="0">
                <a:solidFill>
                  <a:srgbClr val="3A3E61"/>
                </a:solidFill>
                <a:latin typeface="Extenda 90 Exa"/>
                <a:ea typeface="Extenda 90 Exa"/>
                <a:cs typeface="Extenda 90 Exa"/>
                <a:sym typeface="Extenda 90 Exa"/>
              </a:rPr>
              <a:t>Technologies Used</a:t>
            </a:r>
          </a:p>
        </p:txBody>
      </p:sp>
      <p:sp>
        <p:nvSpPr>
          <p:cNvPr id="15" name="TextBox 15"/>
          <p:cNvSpPr txBox="1"/>
          <p:nvPr/>
        </p:nvSpPr>
        <p:spPr>
          <a:xfrm>
            <a:off x="15425164" y="837629"/>
            <a:ext cx="1094217" cy="410718"/>
          </a:xfrm>
          <a:prstGeom prst="rect">
            <a:avLst/>
          </a:prstGeom>
        </p:spPr>
        <p:txBody>
          <a:bodyPr lIns="0" tIns="0" rIns="0" bIns="0" rtlCol="0" anchor="t">
            <a:spAutoFit/>
          </a:bodyPr>
          <a:lstStyle/>
          <a:p>
            <a:pPr algn="l">
              <a:lnSpc>
                <a:spcPts val="3275"/>
              </a:lnSpc>
            </a:pPr>
            <a:r>
              <a:rPr lang="en-US" sz="2799" b="1">
                <a:solidFill>
                  <a:srgbClr val="FFFFFF"/>
                </a:solidFill>
                <a:latin typeface="TT Fors Bold"/>
                <a:ea typeface="TT Fors Bold"/>
                <a:cs typeface="TT Fors Bold"/>
                <a:sym typeface="TT Fors Bold"/>
              </a:rPr>
              <a:t>Page</a:t>
            </a:r>
          </a:p>
        </p:txBody>
      </p:sp>
      <p:grpSp>
        <p:nvGrpSpPr>
          <p:cNvPr id="16" name="Group 16"/>
          <p:cNvGrpSpPr/>
          <p:nvPr/>
        </p:nvGrpSpPr>
        <p:grpSpPr>
          <a:xfrm>
            <a:off x="16543936" y="646641"/>
            <a:ext cx="822187" cy="822187"/>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3E61"/>
            </a:solidFill>
          </p:spPr>
          <p:txBody>
            <a:bodyPr/>
            <a:lstStyle/>
            <a:p>
              <a:endParaRPr lang="en-GB"/>
            </a:p>
          </p:txBody>
        </p:sp>
        <p:sp>
          <p:nvSpPr>
            <p:cNvPr id="18" name="TextBox 18"/>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9" name="TextBox 19"/>
          <p:cNvSpPr txBox="1"/>
          <p:nvPr/>
        </p:nvSpPr>
        <p:spPr>
          <a:xfrm>
            <a:off x="16572511" y="818579"/>
            <a:ext cx="749445" cy="547116"/>
          </a:xfrm>
          <a:prstGeom prst="rect">
            <a:avLst/>
          </a:prstGeom>
        </p:spPr>
        <p:txBody>
          <a:bodyPr lIns="0" tIns="0" rIns="0" bIns="0" rtlCol="0" anchor="t">
            <a:spAutoFit/>
          </a:bodyPr>
          <a:lstStyle/>
          <a:p>
            <a:pPr algn="ctr">
              <a:lnSpc>
                <a:spcPts val="4211"/>
              </a:lnSpc>
            </a:pPr>
            <a:r>
              <a:rPr lang="en-US" sz="3599">
                <a:solidFill>
                  <a:srgbClr val="FFFFFF"/>
                </a:solidFill>
                <a:latin typeface="Extenda 90 Exa"/>
                <a:ea typeface="Extenda 90 Exa"/>
                <a:cs typeface="Extenda 90 Exa"/>
                <a:sym typeface="Extenda 90 Exa"/>
              </a:rPr>
              <a:t>04</a:t>
            </a:r>
          </a:p>
        </p:txBody>
      </p:sp>
      <p:sp>
        <p:nvSpPr>
          <p:cNvPr id="20" name="TextBox 20"/>
          <p:cNvSpPr txBox="1"/>
          <p:nvPr/>
        </p:nvSpPr>
        <p:spPr>
          <a:xfrm>
            <a:off x="914400" y="3162259"/>
            <a:ext cx="15490680" cy="4924425"/>
          </a:xfrm>
          <a:prstGeom prst="rect">
            <a:avLst/>
          </a:prstGeom>
        </p:spPr>
        <p:txBody>
          <a:bodyPr lIns="0" tIns="0" rIns="0" bIns="0" rtlCol="0" anchor="t">
            <a:spAutoFit/>
          </a:bodyPr>
          <a:lstStyle/>
          <a:p>
            <a:pPr marL="742950" lvl="0" indent="-742950" algn="just">
              <a:buFont typeface="+mj-lt"/>
              <a:buAutoNum type="arabicPeriod"/>
            </a:pPr>
            <a:r>
              <a:rPr lang="en-GB" sz="4000" b="1" dirty="0">
                <a:solidFill>
                  <a:srgbClr val="3A3E61"/>
                </a:solidFill>
                <a:latin typeface="TT Fors"/>
              </a:rPr>
              <a:t>SDL3</a:t>
            </a:r>
            <a:r>
              <a:rPr lang="en-GB" sz="4000" dirty="0">
                <a:solidFill>
                  <a:srgbClr val="3A3E61"/>
                </a:solidFill>
                <a:latin typeface="TT Fors"/>
              </a:rPr>
              <a:t>: Window lifecycle, hardware-accelerated 2D graphics rendering, and event handling and Callback systems.</a:t>
            </a:r>
          </a:p>
          <a:p>
            <a:pPr marL="742950" lvl="0" indent="-742950" algn="just">
              <a:buFont typeface="+mj-lt"/>
              <a:buAutoNum type="arabicPeriod"/>
            </a:pPr>
            <a:r>
              <a:rPr lang="en-GB" sz="4000" b="1" dirty="0">
                <a:solidFill>
                  <a:srgbClr val="3A3E61"/>
                </a:solidFill>
                <a:latin typeface="TT Fors"/>
              </a:rPr>
              <a:t>Dear ImGui</a:t>
            </a:r>
            <a:r>
              <a:rPr lang="en-GB" sz="4000" dirty="0">
                <a:solidFill>
                  <a:srgbClr val="3A3E61"/>
                </a:solidFill>
                <a:latin typeface="TT Fors"/>
              </a:rPr>
              <a:t>: Powers the interactive sidebars, live configuration sliders, and floating bot inspectors.</a:t>
            </a:r>
            <a:endParaRPr lang="en-GB" sz="4400" dirty="0"/>
          </a:p>
          <a:p>
            <a:pPr marL="742950" indent="-742950" algn="just">
              <a:buFont typeface="+mj-lt"/>
              <a:buAutoNum type="arabicPeriod"/>
            </a:pPr>
            <a:r>
              <a:rPr lang="en-GB" sz="4000" b="1" dirty="0">
                <a:solidFill>
                  <a:srgbClr val="3A3E61"/>
                </a:solidFill>
                <a:latin typeface="TT Fors"/>
              </a:rPr>
              <a:t>C++20 </a:t>
            </a:r>
            <a:r>
              <a:rPr lang="en-GB" sz="4000" dirty="0">
                <a:solidFill>
                  <a:srgbClr val="3A3E61"/>
                </a:solidFill>
                <a:latin typeface="TT Fors"/>
              </a:rPr>
              <a:t>: Core simulation engine, agent kinematics, vector mathematics , namespaces and mature featureful IDE’s</a:t>
            </a:r>
          </a:p>
          <a:p>
            <a:pPr marL="742950" indent="-742950" algn="just">
              <a:buFont typeface="+mj-lt"/>
              <a:buAutoNum type="arabicPeriod"/>
            </a:pPr>
            <a:r>
              <a:rPr lang="en-GB" sz="4000" b="1" dirty="0">
                <a:solidFill>
                  <a:srgbClr val="3A3E61"/>
                </a:solidFill>
                <a:latin typeface="TT Fors"/>
              </a:rPr>
              <a:t>Custom Memory Arenas</a:t>
            </a:r>
            <a:r>
              <a:rPr lang="en-GB" sz="4000" dirty="0">
                <a:solidFill>
                  <a:srgbClr val="3A3E61"/>
                </a:solidFill>
                <a:latin typeface="TT Fors"/>
              </a:rPr>
              <a:t>: Bypassing standard malloc/new for completely fragmented-free, high-speed memory allocation.</a:t>
            </a:r>
          </a:p>
        </p:txBody>
      </p:sp>
      <p:sp>
        <p:nvSpPr>
          <p:cNvPr id="21" name="Freeform 21"/>
          <p:cNvSpPr/>
          <p:nvPr/>
        </p:nvSpPr>
        <p:spPr>
          <a:xfrm>
            <a:off x="15766953" y="7833165"/>
            <a:ext cx="2360560" cy="2291889"/>
          </a:xfrm>
          <a:custGeom>
            <a:avLst/>
            <a:gdLst/>
            <a:ahLst/>
            <a:cxnLst/>
            <a:rect l="l" t="t" r="r" b="b"/>
            <a:pathLst>
              <a:path w="2360560" h="2291889">
                <a:moveTo>
                  <a:pt x="0" y="0"/>
                </a:moveTo>
                <a:lnTo>
                  <a:pt x="2360561" y="0"/>
                </a:lnTo>
                <a:lnTo>
                  <a:pt x="2360561" y="2291889"/>
                </a:lnTo>
                <a:lnTo>
                  <a:pt x="0" y="22918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GB"/>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1EDE2"/>
        </a:solidFill>
        <a:effectLst/>
      </p:bgPr>
    </p:bg>
    <p:spTree>
      <p:nvGrpSpPr>
        <p:cNvPr id="1" name=""/>
        <p:cNvGrpSpPr/>
        <p:nvPr/>
      </p:nvGrpSpPr>
      <p:grpSpPr>
        <a:xfrm>
          <a:off x="0" y="0"/>
          <a:ext cx="0" cy="0"/>
          <a:chOff x="0" y="0"/>
          <a:chExt cx="0" cy="0"/>
        </a:xfrm>
      </p:grpSpPr>
      <p:grpSp>
        <p:nvGrpSpPr>
          <p:cNvPr id="2" name="Group 2"/>
          <p:cNvGrpSpPr/>
          <p:nvPr/>
        </p:nvGrpSpPr>
        <p:grpSpPr>
          <a:xfrm>
            <a:off x="-1752600" y="-235831"/>
            <a:ext cx="21517324" cy="10758662"/>
            <a:chOff x="0" y="0"/>
            <a:chExt cx="28689765" cy="14344882"/>
          </a:xfrm>
        </p:grpSpPr>
        <p:sp>
          <p:nvSpPr>
            <p:cNvPr id="3" name="Freeform 3"/>
            <p:cNvSpPr/>
            <p:nvPr/>
          </p:nvSpPr>
          <p:spPr>
            <a:xfrm>
              <a:off x="0" y="0"/>
              <a:ext cx="7172441" cy="7172441"/>
            </a:xfrm>
            <a:custGeom>
              <a:avLst/>
              <a:gdLst/>
              <a:ahLst/>
              <a:cxnLst/>
              <a:rect l="l" t="t" r="r" b="b"/>
              <a:pathLst>
                <a:path w="7172441" h="7172441">
                  <a:moveTo>
                    <a:pt x="0" y="0"/>
                  </a:moveTo>
                  <a:lnTo>
                    <a:pt x="7172441" y="0"/>
                  </a:lnTo>
                  <a:lnTo>
                    <a:pt x="7172441" y="7172441"/>
                  </a:lnTo>
                  <a:lnTo>
                    <a:pt x="0" y="7172441"/>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txBody>
            <a:bodyPr/>
            <a:lstStyle/>
            <a:p>
              <a:endParaRPr lang="en-GB"/>
            </a:p>
          </p:txBody>
        </p:sp>
        <p:sp>
          <p:nvSpPr>
            <p:cNvPr id="4" name="Freeform 4"/>
            <p:cNvSpPr/>
            <p:nvPr/>
          </p:nvSpPr>
          <p:spPr>
            <a:xfrm>
              <a:off x="0" y="7172441"/>
              <a:ext cx="7172441" cy="7172441"/>
            </a:xfrm>
            <a:custGeom>
              <a:avLst/>
              <a:gdLst/>
              <a:ahLst/>
              <a:cxnLst/>
              <a:rect l="l" t="t" r="r" b="b"/>
              <a:pathLst>
                <a:path w="7172441" h="7172441">
                  <a:moveTo>
                    <a:pt x="0" y="0"/>
                  </a:moveTo>
                  <a:lnTo>
                    <a:pt x="7172441" y="0"/>
                  </a:lnTo>
                  <a:lnTo>
                    <a:pt x="7172441" y="7172441"/>
                  </a:lnTo>
                  <a:lnTo>
                    <a:pt x="0" y="7172441"/>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txBody>
            <a:bodyPr/>
            <a:lstStyle/>
            <a:p>
              <a:endParaRPr lang="en-GB"/>
            </a:p>
          </p:txBody>
        </p:sp>
        <p:sp>
          <p:nvSpPr>
            <p:cNvPr id="5" name="Freeform 5"/>
            <p:cNvSpPr/>
            <p:nvPr/>
          </p:nvSpPr>
          <p:spPr>
            <a:xfrm>
              <a:off x="7172441" y="0"/>
              <a:ext cx="7172441" cy="7172441"/>
            </a:xfrm>
            <a:custGeom>
              <a:avLst/>
              <a:gdLst/>
              <a:ahLst/>
              <a:cxnLst/>
              <a:rect l="l" t="t" r="r" b="b"/>
              <a:pathLst>
                <a:path w="7172441" h="7172441">
                  <a:moveTo>
                    <a:pt x="0" y="0"/>
                  </a:moveTo>
                  <a:lnTo>
                    <a:pt x="7172441" y="0"/>
                  </a:lnTo>
                  <a:lnTo>
                    <a:pt x="7172441" y="7172441"/>
                  </a:lnTo>
                  <a:lnTo>
                    <a:pt x="0" y="7172441"/>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txBody>
            <a:bodyPr/>
            <a:lstStyle/>
            <a:p>
              <a:endParaRPr lang="en-GB"/>
            </a:p>
          </p:txBody>
        </p:sp>
        <p:sp>
          <p:nvSpPr>
            <p:cNvPr id="6" name="Freeform 6"/>
            <p:cNvSpPr/>
            <p:nvPr/>
          </p:nvSpPr>
          <p:spPr>
            <a:xfrm>
              <a:off x="7172441" y="7172441"/>
              <a:ext cx="7172441" cy="7172441"/>
            </a:xfrm>
            <a:custGeom>
              <a:avLst/>
              <a:gdLst/>
              <a:ahLst/>
              <a:cxnLst/>
              <a:rect l="l" t="t" r="r" b="b"/>
              <a:pathLst>
                <a:path w="7172441" h="7172441">
                  <a:moveTo>
                    <a:pt x="0" y="0"/>
                  </a:moveTo>
                  <a:lnTo>
                    <a:pt x="7172441" y="0"/>
                  </a:lnTo>
                  <a:lnTo>
                    <a:pt x="7172441" y="7172441"/>
                  </a:lnTo>
                  <a:lnTo>
                    <a:pt x="0" y="7172441"/>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txBody>
            <a:bodyPr/>
            <a:lstStyle/>
            <a:p>
              <a:endParaRPr lang="en-GB" dirty="0"/>
            </a:p>
          </p:txBody>
        </p:sp>
        <p:sp>
          <p:nvSpPr>
            <p:cNvPr id="7" name="Freeform 7"/>
            <p:cNvSpPr/>
            <p:nvPr/>
          </p:nvSpPr>
          <p:spPr>
            <a:xfrm>
              <a:off x="14344882" y="0"/>
              <a:ext cx="7172441" cy="7172441"/>
            </a:xfrm>
            <a:custGeom>
              <a:avLst/>
              <a:gdLst/>
              <a:ahLst/>
              <a:cxnLst/>
              <a:rect l="l" t="t" r="r" b="b"/>
              <a:pathLst>
                <a:path w="7172441" h="7172441">
                  <a:moveTo>
                    <a:pt x="0" y="0"/>
                  </a:moveTo>
                  <a:lnTo>
                    <a:pt x="7172442" y="0"/>
                  </a:lnTo>
                  <a:lnTo>
                    <a:pt x="7172442" y="7172441"/>
                  </a:lnTo>
                  <a:lnTo>
                    <a:pt x="0" y="7172441"/>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txBody>
            <a:bodyPr/>
            <a:lstStyle/>
            <a:p>
              <a:endParaRPr lang="en-GB"/>
            </a:p>
          </p:txBody>
        </p:sp>
        <p:sp>
          <p:nvSpPr>
            <p:cNvPr id="8" name="Freeform 8"/>
            <p:cNvSpPr/>
            <p:nvPr/>
          </p:nvSpPr>
          <p:spPr>
            <a:xfrm>
              <a:off x="14344882" y="7172441"/>
              <a:ext cx="7172441" cy="7172441"/>
            </a:xfrm>
            <a:custGeom>
              <a:avLst/>
              <a:gdLst/>
              <a:ahLst/>
              <a:cxnLst/>
              <a:rect l="l" t="t" r="r" b="b"/>
              <a:pathLst>
                <a:path w="7172441" h="7172441">
                  <a:moveTo>
                    <a:pt x="0" y="0"/>
                  </a:moveTo>
                  <a:lnTo>
                    <a:pt x="7172442" y="0"/>
                  </a:lnTo>
                  <a:lnTo>
                    <a:pt x="7172442" y="7172441"/>
                  </a:lnTo>
                  <a:lnTo>
                    <a:pt x="0" y="7172441"/>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txBody>
            <a:bodyPr/>
            <a:lstStyle/>
            <a:p>
              <a:endParaRPr lang="en-GB"/>
            </a:p>
          </p:txBody>
        </p:sp>
        <p:sp>
          <p:nvSpPr>
            <p:cNvPr id="9" name="Freeform 9"/>
            <p:cNvSpPr/>
            <p:nvPr/>
          </p:nvSpPr>
          <p:spPr>
            <a:xfrm>
              <a:off x="21517324" y="0"/>
              <a:ext cx="7172441" cy="7172441"/>
            </a:xfrm>
            <a:custGeom>
              <a:avLst/>
              <a:gdLst/>
              <a:ahLst/>
              <a:cxnLst/>
              <a:rect l="l" t="t" r="r" b="b"/>
              <a:pathLst>
                <a:path w="7172441" h="7172441">
                  <a:moveTo>
                    <a:pt x="0" y="0"/>
                  </a:moveTo>
                  <a:lnTo>
                    <a:pt x="7172441" y="0"/>
                  </a:lnTo>
                  <a:lnTo>
                    <a:pt x="7172441" y="7172441"/>
                  </a:lnTo>
                  <a:lnTo>
                    <a:pt x="0" y="7172441"/>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txBody>
            <a:bodyPr/>
            <a:lstStyle/>
            <a:p>
              <a:endParaRPr lang="en-GB"/>
            </a:p>
          </p:txBody>
        </p:sp>
        <p:sp>
          <p:nvSpPr>
            <p:cNvPr id="10" name="Freeform 10"/>
            <p:cNvSpPr/>
            <p:nvPr/>
          </p:nvSpPr>
          <p:spPr>
            <a:xfrm>
              <a:off x="21517324" y="7172441"/>
              <a:ext cx="7172441" cy="7172441"/>
            </a:xfrm>
            <a:custGeom>
              <a:avLst/>
              <a:gdLst/>
              <a:ahLst/>
              <a:cxnLst/>
              <a:rect l="l" t="t" r="r" b="b"/>
              <a:pathLst>
                <a:path w="7172441" h="7172441">
                  <a:moveTo>
                    <a:pt x="0" y="0"/>
                  </a:moveTo>
                  <a:lnTo>
                    <a:pt x="7172441" y="0"/>
                  </a:lnTo>
                  <a:lnTo>
                    <a:pt x="7172441" y="7172441"/>
                  </a:lnTo>
                  <a:lnTo>
                    <a:pt x="0" y="7172441"/>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txBody>
            <a:bodyPr/>
            <a:lstStyle/>
            <a:p>
              <a:endParaRPr lang="en-GB"/>
            </a:p>
          </p:txBody>
        </p:sp>
      </p:grpSp>
      <p:grpSp>
        <p:nvGrpSpPr>
          <p:cNvPr id="11" name="Group 11"/>
          <p:cNvGrpSpPr/>
          <p:nvPr/>
        </p:nvGrpSpPr>
        <p:grpSpPr>
          <a:xfrm>
            <a:off x="15066413" y="683012"/>
            <a:ext cx="2065807" cy="749445"/>
            <a:chOff x="0" y="0"/>
            <a:chExt cx="1120221" cy="406400"/>
          </a:xfrm>
        </p:grpSpPr>
        <p:sp>
          <p:nvSpPr>
            <p:cNvPr id="12" name="Freeform 12"/>
            <p:cNvSpPr/>
            <p:nvPr/>
          </p:nvSpPr>
          <p:spPr>
            <a:xfrm>
              <a:off x="0" y="0"/>
              <a:ext cx="1120221" cy="406400"/>
            </a:xfrm>
            <a:custGeom>
              <a:avLst/>
              <a:gdLst/>
              <a:ahLst/>
              <a:cxnLst/>
              <a:rect l="l" t="t" r="r" b="b"/>
              <a:pathLst>
                <a:path w="1120221" h="406400">
                  <a:moveTo>
                    <a:pt x="917021" y="0"/>
                  </a:moveTo>
                  <a:cubicBezTo>
                    <a:pt x="1029246" y="0"/>
                    <a:pt x="1120221" y="90976"/>
                    <a:pt x="1120221" y="203200"/>
                  </a:cubicBezTo>
                  <a:cubicBezTo>
                    <a:pt x="1120221" y="315424"/>
                    <a:pt x="1029246" y="406400"/>
                    <a:pt x="917021" y="406400"/>
                  </a:cubicBezTo>
                  <a:lnTo>
                    <a:pt x="203200" y="406400"/>
                  </a:lnTo>
                  <a:cubicBezTo>
                    <a:pt x="90976" y="406400"/>
                    <a:pt x="0" y="315424"/>
                    <a:pt x="0" y="203200"/>
                  </a:cubicBezTo>
                  <a:cubicBezTo>
                    <a:pt x="0" y="90976"/>
                    <a:pt x="90976" y="0"/>
                    <a:pt x="203200" y="0"/>
                  </a:cubicBezTo>
                  <a:close/>
                </a:path>
              </a:pathLst>
            </a:custGeom>
            <a:solidFill>
              <a:srgbClr val="343434"/>
            </a:solidFill>
          </p:spPr>
          <p:txBody>
            <a:bodyPr/>
            <a:lstStyle/>
            <a:p>
              <a:endParaRPr lang="en-GB"/>
            </a:p>
          </p:txBody>
        </p:sp>
        <p:sp>
          <p:nvSpPr>
            <p:cNvPr id="13" name="TextBox 13"/>
            <p:cNvSpPr txBox="1"/>
            <p:nvPr/>
          </p:nvSpPr>
          <p:spPr>
            <a:xfrm>
              <a:off x="0" y="-38100"/>
              <a:ext cx="1120221" cy="444500"/>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193955" y="357322"/>
            <a:ext cx="17900089" cy="1354217"/>
          </a:xfrm>
          <a:prstGeom prst="rect">
            <a:avLst/>
          </a:prstGeom>
        </p:spPr>
        <p:txBody>
          <a:bodyPr lIns="0" tIns="0" rIns="0" bIns="0" rtlCol="0" anchor="t">
            <a:spAutoFit/>
          </a:bodyPr>
          <a:lstStyle/>
          <a:p>
            <a:pPr algn="ctr"/>
            <a:r>
              <a:rPr lang="en-GB" sz="8800" dirty="0">
                <a:solidFill>
                  <a:srgbClr val="3A3E61"/>
                </a:solidFill>
                <a:latin typeface="Extenda 90 Exa"/>
              </a:rPr>
              <a:t>The Algorithms</a:t>
            </a:r>
          </a:p>
        </p:txBody>
      </p:sp>
      <p:sp>
        <p:nvSpPr>
          <p:cNvPr id="15" name="TextBox 15"/>
          <p:cNvSpPr txBox="1"/>
          <p:nvPr/>
        </p:nvSpPr>
        <p:spPr>
          <a:xfrm>
            <a:off x="15425164" y="837629"/>
            <a:ext cx="1094217" cy="410718"/>
          </a:xfrm>
          <a:prstGeom prst="rect">
            <a:avLst/>
          </a:prstGeom>
        </p:spPr>
        <p:txBody>
          <a:bodyPr lIns="0" tIns="0" rIns="0" bIns="0" rtlCol="0" anchor="t">
            <a:spAutoFit/>
          </a:bodyPr>
          <a:lstStyle/>
          <a:p>
            <a:pPr algn="l">
              <a:lnSpc>
                <a:spcPts val="3275"/>
              </a:lnSpc>
            </a:pPr>
            <a:r>
              <a:rPr lang="en-US" sz="2799" b="1">
                <a:solidFill>
                  <a:srgbClr val="FFFFFF"/>
                </a:solidFill>
                <a:latin typeface="TT Fors Bold"/>
                <a:ea typeface="TT Fors Bold"/>
                <a:cs typeface="TT Fors Bold"/>
                <a:sym typeface="TT Fors Bold"/>
              </a:rPr>
              <a:t>Page</a:t>
            </a:r>
          </a:p>
        </p:txBody>
      </p:sp>
      <p:grpSp>
        <p:nvGrpSpPr>
          <p:cNvPr id="16" name="Group 16"/>
          <p:cNvGrpSpPr/>
          <p:nvPr/>
        </p:nvGrpSpPr>
        <p:grpSpPr>
          <a:xfrm>
            <a:off x="16543936" y="646641"/>
            <a:ext cx="822187" cy="822187"/>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3E61"/>
            </a:solidFill>
          </p:spPr>
          <p:txBody>
            <a:bodyPr/>
            <a:lstStyle/>
            <a:p>
              <a:endParaRPr lang="en-GB"/>
            </a:p>
          </p:txBody>
        </p:sp>
        <p:sp>
          <p:nvSpPr>
            <p:cNvPr id="18" name="TextBox 18"/>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9" name="TextBox 19"/>
          <p:cNvSpPr txBox="1"/>
          <p:nvPr/>
        </p:nvSpPr>
        <p:spPr>
          <a:xfrm>
            <a:off x="16572511" y="818579"/>
            <a:ext cx="749445" cy="547116"/>
          </a:xfrm>
          <a:prstGeom prst="rect">
            <a:avLst/>
          </a:prstGeom>
        </p:spPr>
        <p:txBody>
          <a:bodyPr lIns="0" tIns="0" rIns="0" bIns="0" rtlCol="0" anchor="t">
            <a:spAutoFit/>
          </a:bodyPr>
          <a:lstStyle/>
          <a:p>
            <a:pPr algn="ctr">
              <a:lnSpc>
                <a:spcPts val="4211"/>
              </a:lnSpc>
            </a:pPr>
            <a:r>
              <a:rPr lang="en-US" sz="3599">
                <a:solidFill>
                  <a:srgbClr val="FFFFFF"/>
                </a:solidFill>
                <a:latin typeface="Extenda 90 Exa"/>
                <a:ea typeface="Extenda 90 Exa"/>
                <a:cs typeface="Extenda 90 Exa"/>
                <a:sym typeface="Extenda 90 Exa"/>
              </a:rPr>
              <a:t>05</a:t>
            </a:r>
          </a:p>
        </p:txBody>
      </p:sp>
      <p:sp>
        <p:nvSpPr>
          <p:cNvPr id="24" name="TextBox 24"/>
          <p:cNvSpPr txBox="1"/>
          <p:nvPr/>
        </p:nvSpPr>
        <p:spPr>
          <a:xfrm>
            <a:off x="1329360" y="3843270"/>
            <a:ext cx="7396993" cy="6032421"/>
          </a:xfrm>
          <a:prstGeom prst="rect">
            <a:avLst/>
          </a:prstGeom>
        </p:spPr>
        <p:txBody>
          <a:bodyPr lIns="0" tIns="0" rIns="0" bIns="0" rtlCol="0" anchor="t">
            <a:spAutoFit/>
          </a:bodyPr>
          <a:lstStyle/>
          <a:p>
            <a:pPr marL="457200" lvl="0" indent="-457200" algn="just">
              <a:buFont typeface="Arial" panose="020B0604020202020204" pitchFamily="34" charset="0"/>
              <a:buChar char="•"/>
            </a:pPr>
            <a:r>
              <a:rPr lang="en-GB" sz="2800" b="1" dirty="0">
                <a:solidFill>
                  <a:srgbClr val="3A3E61"/>
                </a:solidFill>
                <a:latin typeface="TT Fors"/>
              </a:rPr>
              <a:t>Static Routing</a:t>
            </a:r>
            <a:r>
              <a:rPr lang="en-GB" sz="2800" dirty="0">
                <a:solidFill>
                  <a:srgbClr val="3A3E61"/>
                </a:solidFill>
                <a:latin typeface="TT Fors"/>
              </a:rPr>
              <a:t>: Calculates the absolute shortest physical path using standard A*, ignoring current traffic conditions.</a:t>
            </a:r>
          </a:p>
          <a:p>
            <a:pPr marL="457200" lvl="0" indent="-457200" algn="just">
              <a:buFont typeface="Arial" panose="020B0604020202020204" pitchFamily="34" charset="0"/>
              <a:buChar char="•"/>
            </a:pPr>
            <a:r>
              <a:rPr lang="en-GB" sz="2800" b="1" dirty="0">
                <a:solidFill>
                  <a:srgbClr val="3A3E61"/>
                </a:solidFill>
                <a:latin typeface="TT Fors"/>
              </a:rPr>
              <a:t>Bidirectional Travel</a:t>
            </a:r>
            <a:r>
              <a:rPr lang="en-GB" sz="2800" dirty="0">
                <a:solidFill>
                  <a:srgbClr val="3A3E61"/>
                </a:solidFill>
                <a:latin typeface="TT Fors"/>
              </a:rPr>
              <a:t>: Treats all rails equally, which frequently results in head-on traffic and gridlock.</a:t>
            </a:r>
          </a:p>
          <a:p>
            <a:pPr marL="457200" lvl="0" indent="-457200" algn="just">
              <a:buFont typeface="Arial" panose="020B0604020202020204" pitchFamily="34" charset="0"/>
              <a:buChar char="•"/>
            </a:pPr>
            <a:r>
              <a:rPr lang="en-GB" sz="2800" b="1" dirty="0">
                <a:solidFill>
                  <a:srgbClr val="3A3E61"/>
                </a:solidFill>
                <a:latin typeface="TT Fors"/>
              </a:rPr>
              <a:t>Strict Clearances</a:t>
            </a:r>
            <a:r>
              <a:rPr lang="en-GB" sz="2800" dirty="0">
                <a:solidFill>
                  <a:srgbClr val="3A3E61"/>
                </a:solidFill>
                <a:latin typeface="TT Fors"/>
              </a:rPr>
              <a:t>: Uses exclusive cell-reservation; bots must wait for an intersection to completely clear before entering.</a:t>
            </a:r>
          </a:p>
          <a:p>
            <a:pPr marL="457200" lvl="0" indent="-457200" algn="just">
              <a:buFont typeface="Arial" panose="020B0604020202020204" pitchFamily="34" charset="0"/>
              <a:buChar char="•"/>
            </a:pPr>
            <a:r>
              <a:rPr lang="en-GB" sz="2800" b="1" dirty="0">
                <a:solidFill>
                  <a:srgbClr val="3A3E61"/>
                </a:solidFill>
                <a:latin typeface="TT Fors"/>
              </a:rPr>
              <a:t>Timeout Recalculation</a:t>
            </a:r>
            <a:r>
              <a:rPr lang="en-GB" sz="2800" dirty="0">
                <a:solidFill>
                  <a:srgbClr val="3A3E61"/>
                </a:solidFill>
                <a:latin typeface="TT Fors"/>
              </a:rPr>
              <a:t>: Handles deadlocks by waiting patiently, then running a computationally heavy A* recalculation if stuck.</a:t>
            </a:r>
          </a:p>
        </p:txBody>
      </p:sp>
      <p:sp>
        <p:nvSpPr>
          <p:cNvPr id="25" name="TextBox 25"/>
          <p:cNvSpPr txBox="1"/>
          <p:nvPr/>
        </p:nvSpPr>
        <p:spPr>
          <a:xfrm>
            <a:off x="1468188" y="2025769"/>
            <a:ext cx="5379331" cy="557845"/>
          </a:xfrm>
          <a:prstGeom prst="rect">
            <a:avLst/>
          </a:prstGeom>
        </p:spPr>
        <p:txBody>
          <a:bodyPr wrap="square" lIns="0" tIns="0" rIns="0" bIns="0" rtlCol="0" anchor="t">
            <a:spAutoFit/>
          </a:bodyPr>
          <a:lstStyle/>
          <a:p>
            <a:pPr algn="ctr">
              <a:lnSpc>
                <a:spcPts val="3360"/>
              </a:lnSpc>
            </a:pPr>
            <a:r>
              <a:rPr lang="en-GB" sz="6000" dirty="0">
                <a:solidFill>
                  <a:srgbClr val="3A3E61"/>
                </a:solidFill>
                <a:latin typeface="Extenda 90 Exa"/>
              </a:rPr>
              <a:t>Baseline</a:t>
            </a:r>
            <a:endParaRPr lang="en-US" sz="5400" dirty="0">
              <a:solidFill>
                <a:srgbClr val="3A3E61"/>
              </a:solidFill>
              <a:latin typeface="Extenda 90 Exa"/>
              <a:ea typeface="Extenda 90 Exa"/>
              <a:cs typeface="Extenda 90 Exa"/>
              <a:sym typeface="Extenda 90 Exa"/>
            </a:endParaRPr>
          </a:p>
        </p:txBody>
      </p:sp>
      <p:sp>
        <p:nvSpPr>
          <p:cNvPr id="28" name="TextBox 28"/>
          <p:cNvSpPr txBox="1"/>
          <p:nvPr/>
        </p:nvSpPr>
        <p:spPr>
          <a:xfrm>
            <a:off x="9662825" y="3868632"/>
            <a:ext cx="7396993" cy="5170646"/>
          </a:xfrm>
          <a:prstGeom prst="rect">
            <a:avLst/>
          </a:prstGeom>
        </p:spPr>
        <p:txBody>
          <a:bodyPr lIns="0" tIns="0" rIns="0" bIns="0" rtlCol="0" anchor="t">
            <a:spAutoFit/>
          </a:bodyPr>
          <a:lstStyle/>
          <a:p>
            <a:pPr marL="457200" lvl="0" indent="-457200" algn="just">
              <a:buFont typeface="Arial" panose="020B0604020202020204" pitchFamily="34" charset="0"/>
              <a:buChar char="•"/>
            </a:pPr>
            <a:r>
              <a:rPr lang="en-GB" sz="2800" b="1" dirty="0">
                <a:solidFill>
                  <a:srgbClr val="3A3E61"/>
                </a:solidFill>
                <a:latin typeface="TT Fors"/>
              </a:rPr>
              <a:t>Separation (Dynamic Routing)</a:t>
            </a:r>
            <a:r>
              <a:rPr lang="en-GB" sz="2800" dirty="0">
                <a:solidFill>
                  <a:srgbClr val="3A3E61"/>
                </a:solidFill>
                <a:latin typeface="TT Fors"/>
              </a:rPr>
              <a:t>: Evaluates a 5x5 heatmap, sacrificing the shortest path to route around crowded areas.</a:t>
            </a:r>
          </a:p>
          <a:p>
            <a:pPr marL="457200" lvl="0" indent="-457200" algn="just">
              <a:buFont typeface="Arial" panose="020B0604020202020204" pitchFamily="34" charset="0"/>
              <a:buChar char="•"/>
            </a:pPr>
            <a:r>
              <a:rPr lang="en-GB" sz="2800" b="1" dirty="0">
                <a:solidFill>
                  <a:srgbClr val="3A3E61"/>
                </a:solidFill>
                <a:latin typeface="TT Fors"/>
              </a:rPr>
              <a:t>Alignment (Lane Polarization)</a:t>
            </a:r>
            <a:r>
              <a:rPr lang="en-GB" sz="2800" dirty="0">
                <a:solidFill>
                  <a:srgbClr val="3A3E61"/>
                </a:solidFill>
                <a:latin typeface="TT Fors"/>
              </a:rPr>
              <a:t>: Records recent traffic flow to naturally polarize rails into one-way lanes.</a:t>
            </a:r>
          </a:p>
          <a:p>
            <a:pPr marL="457200" lvl="0" indent="-457200" algn="just">
              <a:buFont typeface="Arial" panose="020B0604020202020204" pitchFamily="34" charset="0"/>
              <a:buChar char="•"/>
            </a:pPr>
            <a:r>
              <a:rPr lang="en-GB" sz="2800" b="1" dirty="0">
                <a:solidFill>
                  <a:srgbClr val="3A3E61"/>
                </a:solidFill>
                <a:latin typeface="TT Fors"/>
              </a:rPr>
              <a:t>Cohesion (Platooning)</a:t>
            </a:r>
            <a:r>
              <a:rPr lang="en-GB" sz="2800" dirty="0">
                <a:solidFill>
                  <a:srgbClr val="3A3E61"/>
                </a:solidFill>
                <a:latin typeface="TT Fors"/>
              </a:rPr>
              <a:t>: Bots heading to the same station link up and tailgate in continuous "trains" through intersections.</a:t>
            </a:r>
          </a:p>
          <a:p>
            <a:pPr marL="457200" lvl="0" indent="-457200" algn="just">
              <a:buFont typeface="Arial" panose="020B0604020202020204" pitchFamily="34" charset="0"/>
              <a:buChar char="•"/>
            </a:pPr>
            <a:r>
              <a:rPr lang="en-GB" sz="2800" b="1" dirty="0">
                <a:solidFill>
                  <a:srgbClr val="3A3E61"/>
                </a:solidFill>
                <a:latin typeface="TT Fors"/>
              </a:rPr>
              <a:t>Instant Sidestepping</a:t>
            </a:r>
            <a:r>
              <a:rPr lang="en-GB" sz="2800" dirty="0">
                <a:solidFill>
                  <a:srgbClr val="3A3E61"/>
                </a:solidFill>
                <a:latin typeface="TT Fors"/>
              </a:rPr>
              <a:t>: Handles conflicts by immediately dodging onto free parallel rails instead of waiting in line.</a:t>
            </a:r>
          </a:p>
        </p:txBody>
      </p:sp>
      <p:sp>
        <p:nvSpPr>
          <p:cNvPr id="29" name="TextBox 29"/>
          <p:cNvSpPr txBox="1"/>
          <p:nvPr/>
        </p:nvSpPr>
        <p:spPr>
          <a:xfrm>
            <a:off x="10234348" y="2082718"/>
            <a:ext cx="6417148" cy="557845"/>
          </a:xfrm>
          <a:prstGeom prst="rect">
            <a:avLst/>
          </a:prstGeom>
        </p:spPr>
        <p:txBody>
          <a:bodyPr lIns="0" tIns="0" rIns="0" bIns="0" rtlCol="0" anchor="t">
            <a:spAutoFit/>
          </a:bodyPr>
          <a:lstStyle/>
          <a:p>
            <a:pPr algn="ctr">
              <a:lnSpc>
                <a:spcPts val="3360"/>
              </a:lnSpc>
            </a:pPr>
            <a:r>
              <a:rPr lang="en-GB" sz="6000" dirty="0">
                <a:solidFill>
                  <a:srgbClr val="3A3E61"/>
                </a:solidFill>
                <a:latin typeface="Extenda 90 Exa"/>
              </a:rPr>
              <a:t>Flagship</a:t>
            </a:r>
            <a:endParaRPr lang="en-US" sz="5400" dirty="0">
              <a:solidFill>
                <a:srgbClr val="3A3E61"/>
              </a:solidFill>
              <a:latin typeface="Extenda 90 Exa"/>
              <a:ea typeface="Extenda 90 Exa"/>
              <a:cs typeface="Extenda 90 Exa"/>
              <a:sym typeface="Extenda 90 Ex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1EDE2"/>
        </a:solidFill>
        <a:effectLst/>
      </p:bgPr>
    </p:bg>
    <p:spTree>
      <p:nvGrpSpPr>
        <p:cNvPr id="1" name=""/>
        <p:cNvGrpSpPr/>
        <p:nvPr/>
      </p:nvGrpSpPr>
      <p:grpSpPr>
        <a:xfrm>
          <a:off x="0" y="0"/>
          <a:ext cx="0" cy="0"/>
          <a:chOff x="0" y="0"/>
          <a:chExt cx="0" cy="0"/>
        </a:xfrm>
      </p:grpSpPr>
      <p:grpSp>
        <p:nvGrpSpPr>
          <p:cNvPr id="2" name="Group 2"/>
          <p:cNvGrpSpPr/>
          <p:nvPr/>
        </p:nvGrpSpPr>
        <p:grpSpPr>
          <a:xfrm>
            <a:off x="-1614662" y="-235831"/>
            <a:ext cx="21517324" cy="10758662"/>
            <a:chOff x="0" y="0"/>
            <a:chExt cx="28689765" cy="14344882"/>
          </a:xfrm>
        </p:grpSpPr>
        <p:sp>
          <p:nvSpPr>
            <p:cNvPr id="3" name="Freeform 3"/>
            <p:cNvSpPr/>
            <p:nvPr/>
          </p:nvSpPr>
          <p:spPr>
            <a:xfrm>
              <a:off x="0" y="0"/>
              <a:ext cx="7172441" cy="7172441"/>
            </a:xfrm>
            <a:custGeom>
              <a:avLst/>
              <a:gdLst/>
              <a:ahLst/>
              <a:cxnLst/>
              <a:rect l="l" t="t" r="r" b="b"/>
              <a:pathLst>
                <a:path w="7172441" h="7172441">
                  <a:moveTo>
                    <a:pt x="0" y="0"/>
                  </a:moveTo>
                  <a:lnTo>
                    <a:pt x="7172441" y="0"/>
                  </a:lnTo>
                  <a:lnTo>
                    <a:pt x="7172441" y="7172441"/>
                  </a:lnTo>
                  <a:lnTo>
                    <a:pt x="0" y="7172441"/>
                  </a:lnTo>
                  <a:lnTo>
                    <a:pt x="0" y="0"/>
                  </a:lnTo>
                  <a:close/>
                </a:path>
              </a:pathLst>
            </a:custGeom>
            <a:blipFill>
              <a:blip>
                <a:alphaModFix amt="9999"/>
                <a:extLst>
                  <a:ext uri="{96DAC541-7B7A-43D3-8B79-37D633B846F1}">
                    <asvg:svgBlip xmlns:asvg="http://schemas.microsoft.com/office/drawing/2016/SVG/main" r:embed="rId3"/>
                  </a:ext>
                </a:extLst>
              </a:blip>
              <a:stretch>
                <a:fillRect/>
              </a:stretch>
            </a:blipFill>
          </p:spPr>
          <p:txBody>
            <a:bodyPr/>
            <a:lstStyle/>
            <a:p>
              <a:endParaRPr lang="en-GB"/>
            </a:p>
          </p:txBody>
        </p:sp>
        <p:sp>
          <p:nvSpPr>
            <p:cNvPr id="4" name="Freeform 4"/>
            <p:cNvSpPr/>
            <p:nvPr/>
          </p:nvSpPr>
          <p:spPr>
            <a:xfrm>
              <a:off x="0" y="7172441"/>
              <a:ext cx="7172441" cy="7172441"/>
            </a:xfrm>
            <a:custGeom>
              <a:avLst/>
              <a:gdLst/>
              <a:ahLst/>
              <a:cxnLst/>
              <a:rect l="l" t="t" r="r" b="b"/>
              <a:pathLst>
                <a:path w="7172441" h="7172441">
                  <a:moveTo>
                    <a:pt x="0" y="0"/>
                  </a:moveTo>
                  <a:lnTo>
                    <a:pt x="7172441" y="0"/>
                  </a:lnTo>
                  <a:lnTo>
                    <a:pt x="7172441" y="7172441"/>
                  </a:lnTo>
                  <a:lnTo>
                    <a:pt x="0" y="7172441"/>
                  </a:lnTo>
                  <a:lnTo>
                    <a:pt x="0" y="0"/>
                  </a:lnTo>
                  <a:close/>
                </a:path>
              </a:pathLst>
            </a:custGeom>
            <a:blipFill>
              <a:blip>
                <a:alphaModFix amt="9999"/>
                <a:extLst>
                  <a:ext uri="{96DAC541-7B7A-43D3-8B79-37D633B846F1}">
                    <asvg:svgBlip xmlns:asvg="http://schemas.microsoft.com/office/drawing/2016/SVG/main" r:embed="rId3"/>
                  </a:ext>
                </a:extLst>
              </a:blip>
              <a:stretch>
                <a:fillRect/>
              </a:stretch>
            </a:blipFill>
          </p:spPr>
          <p:txBody>
            <a:bodyPr/>
            <a:lstStyle/>
            <a:p>
              <a:endParaRPr lang="en-GB"/>
            </a:p>
          </p:txBody>
        </p:sp>
        <p:sp>
          <p:nvSpPr>
            <p:cNvPr id="5" name="Freeform 5"/>
            <p:cNvSpPr/>
            <p:nvPr/>
          </p:nvSpPr>
          <p:spPr>
            <a:xfrm>
              <a:off x="7172441" y="0"/>
              <a:ext cx="7172441" cy="7172441"/>
            </a:xfrm>
            <a:custGeom>
              <a:avLst/>
              <a:gdLst/>
              <a:ahLst/>
              <a:cxnLst/>
              <a:rect l="l" t="t" r="r" b="b"/>
              <a:pathLst>
                <a:path w="7172441" h="7172441">
                  <a:moveTo>
                    <a:pt x="0" y="0"/>
                  </a:moveTo>
                  <a:lnTo>
                    <a:pt x="7172441" y="0"/>
                  </a:lnTo>
                  <a:lnTo>
                    <a:pt x="7172441" y="7172441"/>
                  </a:lnTo>
                  <a:lnTo>
                    <a:pt x="0" y="7172441"/>
                  </a:lnTo>
                  <a:lnTo>
                    <a:pt x="0" y="0"/>
                  </a:lnTo>
                  <a:close/>
                </a:path>
              </a:pathLst>
            </a:custGeom>
            <a:blipFill>
              <a:blip>
                <a:alphaModFix amt="9999"/>
                <a:extLst>
                  <a:ext uri="{96DAC541-7B7A-43D3-8B79-37D633B846F1}">
                    <asvg:svgBlip xmlns:asvg="http://schemas.microsoft.com/office/drawing/2016/SVG/main" r:embed="rId3"/>
                  </a:ext>
                </a:extLst>
              </a:blip>
              <a:stretch>
                <a:fillRect/>
              </a:stretch>
            </a:blipFill>
          </p:spPr>
          <p:txBody>
            <a:bodyPr/>
            <a:lstStyle/>
            <a:p>
              <a:endParaRPr lang="en-GB"/>
            </a:p>
          </p:txBody>
        </p:sp>
        <p:sp>
          <p:nvSpPr>
            <p:cNvPr id="6" name="Freeform 6"/>
            <p:cNvSpPr/>
            <p:nvPr/>
          </p:nvSpPr>
          <p:spPr>
            <a:xfrm>
              <a:off x="7172441" y="7172441"/>
              <a:ext cx="7172441" cy="7172441"/>
            </a:xfrm>
            <a:custGeom>
              <a:avLst/>
              <a:gdLst/>
              <a:ahLst/>
              <a:cxnLst/>
              <a:rect l="l" t="t" r="r" b="b"/>
              <a:pathLst>
                <a:path w="7172441" h="7172441">
                  <a:moveTo>
                    <a:pt x="0" y="0"/>
                  </a:moveTo>
                  <a:lnTo>
                    <a:pt x="7172441" y="0"/>
                  </a:lnTo>
                  <a:lnTo>
                    <a:pt x="7172441" y="7172441"/>
                  </a:lnTo>
                  <a:lnTo>
                    <a:pt x="0" y="7172441"/>
                  </a:lnTo>
                  <a:lnTo>
                    <a:pt x="0" y="0"/>
                  </a:lnTo>
                  <a:close/>
                </a:path>
              </a:pathLst>
            </a:custGeom>
            <a:blipFill>
              <a:blip>
                <a:alphaModFix amt="9999"/>
                <a:extLst>
                  <a:ext uri="{96DAC541-7B7A-43D3-8B79-37D633B846F1}">
                    <asvg:svgBlip xmlns:asvg="http://schemas.microsoft.com/office/drawing/2016/SVG/main" r:embed="rId3"/>
                  </a:ext>
                </a:extLst>
              </a:blip>
              <a:stretch>
                <a:fillRect/>
              </a:stretch>
            </a:blipFill>
          </p:spPr>
          <p:txBody>
            <a:bodyPr/>
            <a:lstStyle/>
            <a:p>
              <a:endParaRPr lang="en-GB"/>
            </a:p>
          </p:txBody>
        </p:sp>
        <p:sp>
          <p:nvSpPr>
            <p:cNvPr id="7" name="Freeform 7"/>
            <p:cNvSpPr/>
            <p:nvPr/>
          </p:nvSpPr>
          <p:spPr>
            <a:xfrm>
              <a:off x="14344882" y="0"/>
              <a:ext cx="7172441" cy="7172441"/>
            </a:xfrm>
            <a:custGeom>
              <a:avLst/>
              <a:gdLst/>
              <a:ahLst/>
              <a:cxnLst/>
              <a:rect l="l" t="t" r="r" b="b"/>
              <a:pathLst>
                <a:path w="7172441" h="7172441">
                  <a:moveTo>
                    <a:pt x="0" y="0"/>
                  </a:moveTo>
                  <a:lnTo>
                    <a:pt x="7172442" y="0"/>
                  </a:lnTo>
                  <a:lnTo>
                    <a:pt x="7172442" y="7172441"/>
                  </a:lnTo>
                  <a:lnTo>
                    <a:pt x="0" y="7172441"/>
                  </a:lnTo>
                  <a:lnTo>
                    <a:pt x="0" y="0"/>
                  </a:lnTo>
                  <a:close/>
                </a:path>
              </a:pathLst>
            </a:custGeom>
            <a:blipFill>
              <a:blip>
                <a:alphaModFix amt="9999"/>
                <a:extLst>
                  <a:ext uri="{96DAC541-7B7A-43D3-8B79-37D633B846F1}">
                    <asvg:svgBlip xmlns:asvg="http://schemas.microsoft.com/office/drawing/2016/SVG/main" r:embed="rId3"/>
                  </a:ext>
                </a:extLst>
              </a:blip>
              <a:stretch>
                <a:fillRect/>
              </a:stretch>
            </a:blipFill>
          </p:spPr>
          <p:txBody>
            <a:bodyPr/>
            <a:lstStyle/>
            <a:p>
              <a:endParaRPr lang="en-GB"/>
            </a:p>
          </p:txBody>
        </p:sp>
        <p:sp>
          <p:nvSpPr>
            <p:cNvPr id="8" name="Freeform 8"/>
            <p:cNvSpPr/>
            <p:nvPr/>
          </p:nvSpPr>
          <p:spPr>
            <a:xfrm>
              <a:off x="14344882" y="7172441"/>
              <a:ext cx="7172441" cy="7172441"/>
            </a:xfrm>
            <a:custGeom>
              <a:avLst/>
              <a:gdLst/>
              <a:ahLst/>
              <a:cxnLst/>
              <a:rect l="l" t="t" r="r" b="b"/>
              <a:pathLst>
                <a:path w="7172441" h="7172441">
                  <a:moveTo>
                    <a:pt x="0" y="0"/>
                  </a:moveTo>
                  <a:lnTo>
                    <a:pt x="7172442" y="0"/>
                  </a:lnTo>
                  <a:lnTo>
                    <a:pt x="7172442" y="7172441"/>
                  </a:lnTo>
                  <a:lnTo>
                    <a:pt x="0" y="7172441"/>
                  </a:lnTo>
                  <a:lnTo>
                    <a:pt x="0" y="0"/>
                  </a:lnTo>
                  <a:close/>
                </a:path>
              </a:pathLst>
            </a:custGeom>
            <a:blipFill>
              <a:blip>
                <a:alphaModFix amt="9999"/>
                <a:extLst>
                  <a:ext uri="{96DAC541-7B7A-43D3-8B79-37D633B846F1}">
                    <asvg:svgBlip xmlns:asvg="http://schemas.microsoft.com/office/drawing/2016/SVG/main" r:embed="rId3"/>
                  </a:ext>
                </a:extLst>
              </a:blip>
              <a:stretch>
                <a:fillRect/>
              </a:stretch>
            </a:blipFill>
          </p:spPr>
          <p:txBody>
            <a:bodyPr/>
            <a:lstStyle/>
            <a:p>
              <a:endParaRPr lang="en-GB"/>
            </a:p>
          </p:txBody>
        </p:sp>
        <p:sp>
          <p:nvSpPr>
            <p:cNvPr id="9" name="Freeform 9"/>
            <p:cNvSpPr/>
            <p:nvPr/>
          </p:nvSpPr>
          <p:spPr>
            <a:xfrm>
              <a:off x="21517324" y="0"/>
              <a:ext cx="7172441" cy="7172441"/>
            </a:xfrm>
            <a:custGeom>
              <a:avLst/>
              <a:gdLst/>
              <a:ahLst/>
              <a:cxnLst/>
              <a:rect l="l" t="t" r="r" b="b"/>
              <a:pathLst>
                <a:path w="7172441" h="7172441">
                  <a:moveTo>
                    <a:pt x="0" y="0"/>
                  </a:moveTo>
                  <a:lnTo>
                    <a:pt x="7172441" y="0"/>
                  </a:lnTo>
                  <a:lnTo>
                    <a:pt x="7172441" y="7172441"/>
                  </a:lnTo>
                  <a:lnTo>
                    <a:pt x="0" y="7172441"/>
                  </a:lnTo>
                  <a:lnTo>
                    <a:pt x="0" y="0"/>
                  </a:lnTo>
                  <a:close/>
                </a:path>
              </a:pathLst>
            </a:custGeom>
            <a:blipFill>
              <a:blip>
                <a:alphaModFix amt="9999"/>
                <a:extLst>
                  <a:ext uri="{96DAC541-7B7A-43D3-8B79-37D633B846F1}">
                    <asvg:svgBlip xmlns:asvg="http://schemas.microsoft.com/office/drawing/2016/SVG/main" r:embed="rId3"/>
                  </a:ext>
                </a:extLst>
              </a:blip>
              <a:stretch>
                <a:fillRect/>
              </a:stretch>
            </a:blipFill>
          </p:spPr>
          <p:txBody>
            <a:bodyPr/>
            <a:lstStyle/>
            <a:p>
              <a:endParaRPr lang="en-GB"/>
            </a:p>
          </p:txBody>
        </p:sp>
        <p:sp>
          <p:nvSpPr>
            <p:cNvPr id="10" name="Freeform 10"/>
            <p:cNvSpPr/>
            <p:nvPr/>
          </p:nvSpPr>
          <p:spPr>
            <a:xfrm>
              <a:off x="21517324" y="7172441"/>
              <a:ext cx="7172441" cy="7172441"/>
            </a:xfrm>
            <a:custGeom>
              <a:avLst/>
              <a:gdLst/>
              <a:ahLst/>
              <a:cxnLst/>
              <a:rect l="l" t="t" r="r" b="b"/>
              <a:pathLst>
                <a:path w="7172441" h="7172441">
                  <a:moveTo>
                    <a:pt x="0" y="0"/>
                  </a:moveTo>
                  <a:lnTo>
                    <a:pt x="7172441" y="0"/>
                  </a:lnTo>
                  <a:lnTo>
                    <a:pt x="7172441" y="7172441"/>
                  </a:lnTo>
                  <a:lnTo>
                    <a:pt x="0" y="7172441"/>
                  </a:lnTo>
                  <a:lnTo>
                    <a:pt x="0" y="0"/>
                  </a:lnTo>
                  <a:close/>
                </a:path>
              </a:pathLst>
            </a:custGeom>
            <a:blipFill>
              <a:blip>
                <a:alphaModFix amt="9999"/>
                <a:extLst>
                  <a:ext uri="{96DAC541-7B7A-43D3-8B79-37D633B846F1}">
                    <asvg:svgBlip xmlns:asvg="http://schemas.microsoft.com/office/drawing/2016/SVG/main" r:embed="rId3"/>
                  </a:ext>
                </a:extLst>
              </a:blip>
              <a:stretch>
                <a:fillRect/>
              </a:stretch>
            </a:blipFill>
          </p:spPr>
          <p:txBody>
            <a:bodyPr/>
            <a:lstStyle/>
            <a:p>
              <a:endParaRPr lang="en-GB"/>
            </a:p>
          </p:txBody>
        </p:sp>
      </p:grpSp>
      <p:grpSp>
        <p:nvGrpSpPr>
          <p:cNvPr id="11" name="Group 11"/>
          <p:cNvGrpSpPr/>
          <p:nvPr/>
        </p:nvGrpSpPr>
        <p:grpSpPr>
          <a:xfrm>
            <a:off x="15066413" y="683012"/>
            <a:ext cx="2065807" cy="749445"/>
            <a:chOff x="0" y="0"/>
            <a:chExt cx="1120221" cy="406400"/>
          </a:xfrm>
        </p:grpSpPr>
        <p:sp>
          <p:nvSpPr>
            <p:cNvPr id="12" name="Freeform 12"/>
            <p:cNvSpPr/>
            <p:nvPr/>
          </p:nvSpPr>
          <p:spPr>
            <a:xfrm>
              <a:off x="0" y="0"/>
              <a:ext cx="1120221" cy="406400"/>
            </a:xfrm>
            <a:custGeom>
              <a:avLst/>
              <a:gdLst/>
              <a:ahLst/>
              <a:cxnLst/>
              <a:rect l="l" t="t" r="r" b="b"/>
              <a:pathLst>
                <a:path w="1120221" h="406400">
                  <a:moveTo>
                    <a:pt x="917021" y="0"/>
                  </a:moveTo>
                  <a:cubicBezTo>
                    <a:pt x="1029246" y="0"/>
                    <a:pt x="1120221" y="90976"/>
                    <a:pt x="1120221" y="203200"/>
                  </a:cubicBezTo>
                  <a:cubicBezTo>
                    <a:pt x="1120221" y="315424"/>
                    <a:pt x="1029246" y="406400"/>
                    <a:pt x="917021" y="406400"/>
                  </a:cubicBezTo>
                  <a:lnTo>
                    <a:pt x="203200" y="406400"/>
                  </a:lnTo>
                  <a:cubicBezTo>
                    <a:pt x="90976" y="406400"/>
                    <a:pt x="0" y="315424"/>
                    <a:pt x="0" y="203200"/>
                  </a:cubicBezTo>
                  <a:cubicBezTo>
                    <a:pt x="0" y="90976"/>
                    <a:pt x="90976" y="0"/>
                    <a:pt x="203200" y="0"/>
                  </a:cubicBezTo>
                  <a:close/>
                </a:path>
              </a:pathLst>
            </a:custGeom>
            <a:solidFill>
              <a:srgbClr val="343434"/>
            </a:solidFill>
          </p:spPr>
          <p:txBody>
            <a:bodyPr/>
            <a:lstStyle/>
            <a:p>
              <a:endParaRPr lang="en-GB"/>
            </a:p>
          </p:txBody>
        </p:sp>
        <p:sp>
          <p:nvSpPr>
            <p:cNvPr id="13" name="TextBox 13"/>
            <p:cNvSpPr txBox="1"/>
            <p:nvPr/>
          </p:nvSpPr>
          <p:spPr>
            <a:xfrm>
              <a:off x="0" y="-38100"/>
              <a:ext cx="1120221" cy="444500"/>
            </a:xfrm>
            <a:prstGeom prst="rect">
              <a:avLst/>
            </a:prstGeom>
          </p:spPr>
          <p:txBody>
            <a:bodyPr lIns="50800" tIns="50800" rIns="50800" bIns="50800" rtlCol="0" anchor="ctr"/>
            <a:lstStyle/>
            <a:p>
              <a:pPr algn="ctr">
                <a:lnSpc>
                  <a:spcPts val="2659"/>
                </a:lnSpc>
              </a:pPr>
              <a:endParaRPr/>
            </a:p>
          </p:txBody>
        </p:sp>
      </p:grpSp>
      <p:sp>
        <p:nvSpPr>
          <p:cNvPr id="20" name="TextBox 20"/>
          <p:cNvSpPr txBox="1"/>
          <p:nvPr/>
        </p:nvSpPr>
        <p:spPr>
          <a:xfrm>
            <a:off x="807241" y="190500"/>
            <a:ext cx="7763197" cy="2031325"/>
          </a:xfrm>
          <a:prstGeom prst="rect">
            <a:avLst/>
          </a:prstGeom>
        </p:spPr>
        <p:txBody>
          <a:bodyPr lIns="0" tIns="0" rIns="0" bIns="0" rtlCol="0" anchor="t">
            <a:spAutoFit/>
          </a:bodyPr>
          <a:lstStyle/>
          <a:p>
            <a:pPr algn="ctr">
              <a:lnSpc>
                <a:spcPct val="100000"/>
              </a:lnSpc>
            </a:pPr>
            <a:r>
              <a:rPr lang="en-GB" sz="6600" dirty="0">
                <a:solidFill>
                  <a:srgbClr val="3A3E61"/>
                </a:solidFill>
                <a:latin typeface="Extenda 90 Exa"/>
              </a:rPr>
              <a:t>Agent Simulation &amp; Kinematics</a:t>
            </a:r>
            <a:endParaRPr lang="en-US" sz="6600" dirty="0">
              <a:solidFill>
                <a:srgbClr val="3A3E61"/>
              </a:solidFill>
              <a:latin typeface="Extenda 90 Exa"/>
              <a:ea typeface="Extenda 90 Exa"/>
              <a:cs typeface="Extenda 90 Exa"/>
              <a:sym typeface="Extenda 90 Exa"/>
            </a:endParaRPr>
          </a:p>
        </p:txBody>
      </p:sp>
      <p:sp>
        <p:nvSpPr>
          <p:cNvPr id="21" name="TextBox 21"/>
          <p:cNvSpPr txBox="1"/>
          <p:nvPr/>
        </p:nvSpPr>
        <p:spPr>
          <a:xfrm>
            <a:off x="15425164" y="837629"/>
            <a:ext cx="1094217" cy="410718"/>
          </a:xfrm>
          <a:prstGeom prst="rect">
            <a:avLst/>
          </a:prstGeom>
        </p:spPr>
        <p:txBody>
          <a:bodyPr lIns="0" tIns="0" rIns="0" bIns="0" rtlCol="0" anchor="t">
            <a:spAutoFit/>
          </a:bodyPr>
          <a:lstStyle/>
          <a:p>
            <a:pPr algn="l">
              <a:lnSpc>
                <a:spcPts val="3275"/>
              </a:lnSpc>
            </a:pPr>
            <a:r>
              <a:rPr lang="en-US" sz="2799" b="1">
                <a:solidFill>
                  <a:srgbClr val="FFFFFF"/>
                </a:solidFill>
                <a:latin typeface="TT Fors Bold"/>
                <a:ea typeface="TT Fors Bold"/>
                <a:cs typeface="TT Fors Bold"/>
                <a:sym typeface="TT Fors Bold"/>
              </a:rPr>
              <a:t>Page</a:t>
            </a:r>
          </a:p>
        </p:txBody>
      </p:sp>
      <p:grpSp>
        <p:nvGrpSpPr>
          <p:cNvPr id="22" name="Group 22"/>
          <p:cNvGrpSpPr/>
          <p:nvPr/>
        </p:nvGrpSpPr>
        <p:grpSpPr>
          <a:xfrm>
            <a:off x="16543936" y="646641"/>
            <a:ext cx="822187" cy="822187"/>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3E61"/>
            </a:solidFill>
          </p:spPr>
          <p:txBody>
            <a:bodyPr/>
            <a:lstStyle/>
            <a:p>
              <a:endParaRPr lang="en-GB"/>
            </a:p>
          </p:txBody>
        </p:sp>
        <p:sp>
          <p:nvSpPr>
            <p:cNvPr id="24" name="TextBox 2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5" name="TextBox 25"/>
          <p:cNvSpPr txBox="1"/>
          <p:nvPr/>
        </p:nvSpPr>
        <p:spPr>
          <a:xfrm>
            <a:off x="16572511" y="818579"/>
            <a:ext cx="749445" cy="547116"/>
          </a:xfrm>
          <a:prstGeom prst="rect">
            <a:avLst/>
          </a:prstGeom>
        </p:spPr>
        <p:txBody>
          <a:bodyPr lIns="0" tIns="0" rIns="0" bIns="0" rtlCol="0" anchor="t">
            <a:spAutoFit/>
          </a:bodyPr>
          <a:lstStyle/>
          <a:p>
            <a:pPr algn="ctr">
              <a:lnSpc>
                <a:spcPts val="4211"/>
              </a:lnSpc>
            </a:pPr>
            <a:r>
              <a:rPr lang="en-US" sz="3599">
                <a:solidFill>
                  <a:srgbClr val="FFFFFF"/>
                </a:solidFill>
                <a:latin typeface="Extenda 90 Exa"/>
                <a:ea typeface="Extenda 90 Exa"/>
                <a:cs typeface="Extenda 90 Exa"/>
                <a:sym typeface="Extenda 90 Exa"/>
              </a:rPr>
              <a:t>06</a:t>
            </a:r>
          </a:p>
        </p:txBody>
      </p:sp>
      <p:sp>
        <p:nvSpPr>
          <p:cNvPr id="26" name="TextBox 26"/>
          <p:cNvSpPr txBox="1"/>
          <p:nvPr/>
        </p:nvSpPr>
        <p:spPr>
          <a:xfrm>
            <a:off x="576341" y="2884326"/>
            <a:ext cx="8839200" cy="6401753"/>
          </a:xfrm>
          <a:prstGeom prst="rect">
            <a:avLst/>
          </a:prstGeom>
        </p:spPr>
        <p:txBody>
          <a:bodyPr wrap="square" lIns="0" tIns="0" rIns="0" bIns="0" rtlCol="0" anchor="t">
            <a:spAutoFit/>
          </a:bodyPr>
          <a:lstStyle/>
          <a:p>
            <a:pPr marL="457200" indent="-457200" algn="just">
              <a:buFont typeface="Arial" panose="020B0604020202020204" pitchFamily="34" charset="0"/>
              <a:buChar char="•"/>
            </a:pPr>
            <a:r>
              <a:rPr lang="en-GB" sz="3200" b="1" dirty="0">
                <a:solidFill>
                  <a:srgbClr val="3A3E61"/>
                </a:solidFill>
                <a:latin typeface="TT Fors"/>
              </a:rPr>
              <a:t>Deadlock Breaking</a:t>
            </a:r>
            <a:r>
              <a:rPr lang="en-GB" sz="3200" dirty="0">
                <a:solidFill>
                  <a:srgbClr val="3A3E61"/>
                </a:solidFill>
                <a:latin typeface="TT Fors"/>
              </a:rPr>
              <a:t>: If bots get stuck in a head-on standoff, the system forces a randomized "sidestep" out of the way to clear the jam. Idle bots are asked to "vacate" if they are parked in a working bot's path.</a:t>
            </a:r>
          </a:p>
          <a:p>
            <a:pPr marL="457200" indent="-457200" algn="just">
              <a:buFont typeface="Arial" panose="020B0604020202020204" pitchFamily="34" charset="0"/>
              <a:buChar char="•"/>
            </a:pPr>
            <a:r>
              <a:rPr lang="en-GB" sz="3200" b="1" dirty="0">
                <a:solidFill>
                  <a:srgbClr val="3A3E61"/>
                </a:solidFill>
                <a:latin typeface="TT Fors"/>
              </a:rPr>
              <a:t>Continuous Physics</a:t>
            </a:r>
            <a:r>
              <a:rPr lang="en-GB" sz="3200" dirty="0">
                <a:solidFill>
                  <a:srgbClr val="3A3E61"/>
                </a:solidFill>
                <a:latin typeface="TT Fors"/>
              </a:rPr>
              <a:t>: Bots aren't just teleporting. They use real kinematics (acceleration, braking, max speed, and cornering speed limits).</a:t>
            </a:r>
          </a:p>
          <a:p>
            <a:pPr marL="457200" indent="-457200" algn="just">
              <a:buFont typeface="Arial" panose="020B0604020202020204" pitchFamily="34" charset="0"/>
              <a:buChar char="•"/>
            </a:pPr>
            <a:r>
              <a:rPr lang="en-GB" sz="3200" dirty="0">
                <a:solidFill>
                  <a:srgbClr val="3A3E61"/>
                </a:solidFill>
                <a:latin typeface="TT Fors"/>
              </a:rPr>
              <a:t> </a:t>
            </a:r>
            <a:r>
              <a:rPr lang="en-GB" sz="3200" b="1" dirty="0">
                <a:solidFill>
                  <a:srgbClr val="3A3E61"/>
                </a:solidFill>
                <a:latin typeface="TT Fors"/>
              </a:rPr>
              <a:t>Task Assignment</a:t>
            </a:r>
            <a:r>
              <a:rPr lang="en-GB" sz="3200" dirty="0">
                <a:solidFill>
                  <a:srgbClr val="3A3E61"/>
                </a:solidFill>
                <a:latin typeface="TT Fors"/>
              </a:rPr>
              <a:t>: Bots claim the nearest available orders, with logic for "opportunistic on-the-way pickups."</a:t>
            </a:r>
          </a:p>
        </p:txBody>
      </p:sp>
      <p:pic>
        <p:nvPicPr>
          <p:cNvPr id="29" name="Picture 28">
            <a:extLst>
              <a:ext uri="{FF2B5EF4-FFF2-40B4-BE49-F238E27FC236}">
                <a16:creationId xmlns:a16="http://schemas.microsoft.com/office/drawing/2014/main" id="{A2026831-D414-0132-416B-400D22CC509C}"/>
              </a:ext>
            </a:extLst>
          </p:cNvPr>
          <p:cNvPicPr>
            <a:picLocks noChangeAspect="1"/>
          </p:cNvPicPr>
          <p:nvPr/>
        </p:nvPicPr>
        <p:blipFill>
          <a:blip r:embed="rId4"/>
          <a:stretch>
            <a:fillRect/>
          </a:stretch>
        </p:blipFill>
        <p:spPr>
          <a:xfrm>
            <a:off x="8857536" y="-313475"/>
            <a:ext cx="5470115" cy="6763321"/>
          </a:xfrm>
          <a:prstGeom prst="rect">
            <a:avLst/>
          </a:prstGeom>
        </p:spPr>
      </p:pic>
      <p:pic>
        <p:nvPicPr>
          <p:cNvPr id="31" name="Picture 30">
            <a:extLst>
              <a:ext uri="{FF2B5EF4-FFF2-40B4-BE49-F238E27FC236}">
                <a16:creationId xmlns:a16="http://schemas.microsoft.com/office/drawing/2014/main" id="{27931893-E9F4-6372-CDEE-4B209831E66D}"/>
              </a:ext>
            </a:extLst>
          </p:cNvPr>
          <p:cNvPicPr>
            <a:picLocks noChangeAspect="1"/>
          </p:cNvPicPr>
          <p:nvPr/>
        </p:nvPicPr>
        <p:blipFill>
          <a:blip r:embed="rId5"/>
          <a:stretch>
            <a:fillRect/>
          </a:stretch>
        </p:blipFill>
        <p:spPr>
          <a:xfrm>
            <a:off x="12954000" y="2663819"/>
            <a:ext cx="5613293" cy="758286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1EDE2"/>
        </a:solidFill>
        <a:effectLst/>
      </p:bgPr>
    </p:bg>
    <p:spTree>
      <p:nvGrpSpPr>
        <p:cNvPr id="1" name=""/>
        <p:cNvGrpSpPr/>
        <p:nvPr/>
      </p:nvGrpSpPr>
      <p:grpSpPr>
        <a:xfrm>
          <a:off x="0" y="0"/>
          <a:ext cx="0" cy="0"/>
          <a:chOff x="0" y="0"/>
          <a:chExt cx="0" cy="0"/>
        </a:xfrm>
      </p:grpSpPr>
      <p:grpSp>
        <p:nvGrpSpPr>
          <p:cNvPr id="2" name="Group 2"/>
          <p:cNvGrpSpPr/>
          <p:nvPr/>
        </p:nvGrpSpPr>
        <p:grpSpPr>
          <a:xfrm>
            <a:off x="15066413" y="683012"/>
            <a:ext cx="2065807" cy="749445"/>
            <a:chOff x="0" y="0"/>
            <a:chExt cx="1120221" cy="406400"/>
          </a:xfrm>
        </p:grpSpPr>
        <p:sp>
          <p:nvSpPr>
            <p:cNvPr id="3" name="Freeform 3"/>
            <p:cNvSpPr/>
            <p:nvPr/>
          </p:nvSpPr>
          <p:spPr>
            <a:xfrm>
              <a:off x="0" y="0"/>
              <a:ext cx="1120221" cy="406400"/>
            </a:xfrm>
            <a:custGeom>
              <a:avLst/>
              <a:gdLst/>
              <a:ahLst/>
              <a:cxnLst/>
              <a:rect l="l" t="t" r="r" b="b"/>
              <a:pathLst>
                <a:path w="1120221" h="406400">
                  <a:moveTo>
                    <a:pt x="917021" y="0"/>
                  </a:moveTo>
                  <a:cubicBezTo>
                    <a:pt x="1029246" y="0"/>
                    <a:pt x="1120221" y="90976"/>
                    <a:pt x="1120221" y="203200"/>
                  </a:cubicBezTo>
                  <a:cubicBezTo>
                    <a:pt x="1120221" y="315424"/>
                    <a:pt x="1029246" y="406400"/>
                    <a:pt x="917021" y="406400"/>
                  </a:cubicBezTo>
                  <a:lnTo>
                    <a:pt x="203200" y="406400"/>
                  </a:lnTo>
                  <a:cubicBezTo>
                    <a:pt x="90976" y="406400"/>
                    <a:pt x="0" y="315424"/>
                    <a:pt x="0" y="203200"/>
                  </a:cubicBezTo>
                  <a:cubicBezTo>
                    <a:pt x="0" y="90976"/>
                    <a:pt x="90976" y="0"/>
                    <a:pt x="203200" y="0"/>
                  </a:cubicBezTo>
                  <a:close/>
                </a:path>
              </a:pathLst>
            </a:custGeom>
            <a:solidFill>
              <a:srgbClr val="343434"/>
            </a:solidFill>
          </p:spPr>
          <p:txBody>
            <a:bodyPr/>
            <a:lstStyle/>
            <a:p>
              <a:endParaRPr lang="en-GB"/>
            </a:p>
          </p:txBody>
        </p:sp>
        <p:sp>
          <p:nvSpPr>
            <p:cNvPr id="4" name="TextBox 4"/>
            <p:cNvSpPr txBox="1"/>
            <p:nvPr/>
          </p:nvSpPr>
          <p:spPr>
            <a:xfrm>
              <a:off x="0" y="-38100"/>
              <a:ext cx="1120221" cy="4445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6543936" y="646641"/>
            <a:ext cx="822187" cy="822187"/>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3E61"/>
            </a:solidFill>
          </p:spPr>
          <p:txBody>
            <a:bodyPr/>
            <a:lstStyle/>
            <a:p>
              <a:endParaRPr lang="en-GB"/>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381000" y="2785227"/>
            <a:ext cx="8215762" cy="6463308"/>
          </a:xfrm>
          <a:prstGeom prst="rect">
            <a:avLst/>
          </a:prstGeom>
        </p:spPr>
        <p:txBody>
          <a:bodyPr wrap="square" lIns="0" tIns="0" rIns="0" bIns="0" rtlCol="0" anchor="t">
            <a:spAutoFit/>
          </a:bodyPr>
          <a:lstStyle/>
          <a:p>
            <a:pPr marL="457200" lvl="0" indent="-457200" algn="just">
              <a:buFont typeface="Arial" panose="020B0604020202020204" pitchFamily="34" charset="0"/>
              <a:buChar char="•"/>
            </a:pPr>
            <a:r>
              <a:rPr lang="en-GB" sz="2800" b="1" dirty="0">
                <a:solidFill>
                  <a:srgbClr val="3A3E61"/>
                </a:solidFill>
                <a:latin typeface="TT Fors"/>
              </a:rPr>
              <a:t>Real-Time Analytics Board</a:t>
            </a:r>
            <a:r>
              <a:rPr lang="en-GB" sz="2800" dirty="0">
                <a:solidFill>
                  <a:srgbClr val="3A3E61"/>
                </a:solidFill>
                <a:latin typeface="TT Fors"/>
              </a:rPr>
              <a:t>: Tracking Orders per Minute, Average Latency, and the percentage of time bots spend waiting vs. moving.</a:t>
            </a:r>
          </a:p>
          <a:p>
            <a:pPr marL="457200" lvl="0" indent="-457200" algn="just">
              <a:buFont typeface="Arial" panose="020B0604020202020204" pitchFamily="34" charset="0"/>
              <a:buChar char="•"/>
            </a:pPr>
            <a:r>
              <a:rPr lang="en-GB" sz="2800" b="1" dirty="0">
                <a:solidFill>
                  <a:srgbClr val="3A3E61"/>
                </a:solidFill>
                <a:latin typeface="TT Fors"/>
              </a:rPr>
              <a:t>Interactive Visualizers</a:t>
            </a:r>
            <a:r>
              <a:rPr lang="en-GB" sz="2800" dirty="0">
                <a:solidFill>
                  <a:srgbClr val="3A3E61"/>
                </a:solidFill>
                <a:latin typeface="TT Fors"/>
              </a:rPr>
              <a:t>: Toggles for bot path overlays, traffic heatmaps, lane direction arrows, and bot states (picking, dropping, yielding).</a:t>
            </a:r>
          </a:p>
          <a:p>
            <a:pPr marL="457200" lvl="0" indent="-457200" algn="just">
              <a:buFont typeface="Arial" panose="020B0604020202020204" pitchFamily="34" charset="0"/>
              <a:buChar char="•"/>
            </a:pPr>
            <a:r>
              <a:rPr lang="en-GB" sz="2800" b="1" dirty="0">
                <a:solidFill>
                  <a:srgbClr val="3A3E61"/>
                </a:solidFill>
                <a:latin typeface="TT Fors"/>
              </a:rPr>
              <a:t>Bot Inspector</a:t>
            </a:r>
            <a:r>
              <a:rPr lang="en-GB" sz="2800" dirty="0">
                <a:solidFill>
                  <a:srgbClr val="3A3E61"/>
                </a:solidFill>
                <a:latin typeface="TT Fors"/>
              </a:rPr>
              <a:t>: Users can click on a specific bot to "pin" its telemetry and watch its individual speed, cargo, and active local memory of blocked cells. </a:t>
            </a:r>
          </a:p>
          <a:p>
            <a:pPr marL="457200" lvl="0" indent="-457200" algn="just">
              <a:buFont typeface="Arial" panose="020B0604020202020204" pitchFamily="34" charset="0"/>
              <a:buChar char="•"/>
            </a:pPr>
            <a:r>
              <a:rPr lang="en-GB" sz="2800" b="1" dirty="0">
                <a:solidFill>
                  <a:srgbClr val="3A3E61"/>
                </a:solidFill>
                <a:latin typeface="TT Fors"/>
              </a:rPr>
              <a:t>Split-Screen Comparison</a:t>
            </a:r>
            <a:r>
              <a:rPr lang="en-GB" sz="2800" dirty="0">
                <a:solidFill>
                  <a:srgbClr val="3A3E61"/>
                </a:solidFill>
                <a:latin typeface="TT Fors"/>
              </a:rPr>
              <a:t>: Side-by-side </a:t>
            </a:r>
            <a:r>
              <a:rPr lang="en-GB" sz="2800" dirty="0" err="1">
                <a:solidFill>
                  <a:srgbClr val="3A3E61"/>
                </a:solidFill>
                <a:latin typeface="TT Fors"/>
              </a:rPr>
              <a:t>supersampled</a:t>
            </a:r>
            <a:r>
              <a:rPr lang="en-GB" sz="2800" dirty="0">
                <a:solidFill>
                  <a:srgbClr val="3A3E61"/>
                </a:solidFill>
                <a:latin typeface="TT Fors"/>
              </a:rPr>
              <a:t> views of the exact same scenario (same seed, same orders).</a:t>
            </a:r>
            <a:endParaRPr lang="en-US" sz="2800" dirty="0">
              <a:solidFill>
                <a:srgbClr val="3A3E61"/>
              </a:solidFill>
              <a:latin typeface="TT Fors"/>
              <a:ea typeface="TT Fors"/>
              <a:cs typeface="TT Fors"/>
              <a:sym typeface="TT Fors"/>
            </a:endParaRPr>
          </a:p>
        </p:txBody>
      </p:sp>
      <p:sp>
        <p:nvSpPr>
          <p:cNvPr id="15" name="Freeform 15"/>
          <p:cNvSpPr/>
          <p:nvPr/>
        </p:nvSpPr>
        <p:spPr>
          <a:xfrm>
            <a:off x="-503033" y="1038464"/>
            <a:ext cx="1432673" cy="1536004"/>
          </a:xfrm>
          <a:custGeom>
            <a:avLst/>
            <a:gdLst/>
            <a:ahLst/>
            <a:cxnLst/>
            <a:rect l="l" t="t" r="r" b="b"/>
            <a:pathLst>
              <a:path w="1432673" h="1536004">
                <a:moveTo>
                  <a:pt x="0" y="0"/>
                </a:moveTo>
                <a:lnTo>
                  <a:pt x="1432673" y="0"/>
                </a:lnTo>
                <a:lnTo>
                  <a:pt x="1432673" y="1536004"/>
                </a:lnTo>
                <a:lnTo>
                  <a:pt x="0" y="153600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GB"/>
          </a:p>
        </p:txBody>
      </p:sp>
      <p:sp>
        <p:nvSpPr>
          <p:cNvPr id="16" name="Freeform 16"/>
          <p:cNvSpPr/>
          <p:nvPr/>
        </p:nvSpPr>
        <p:spPr>
          <a:xfrm>
            <a:off x="17136280" y="5872509"/>
            <a:ext cx="1991581" cy="1911917"/>
          </a:xfrm>
          <a:custGeom>
            <a:avLst/>
            <a:gdLst/>
            <a:ahLst/>
            <a:cxnLst/>
            <a:rect l="l" t="t" r="r" b="b"/>
            <a:pathLst>
              <a:path w="1991581" h="1911917">
                <a:moveTo>
                  <a:pt x="0" y="0"/>
                </a:moveTo>
                <a:lnTo>
                  <a:pt x="1991581" y="0"/>
                </a:lnTo>
                <a:lnTo>
                  <a:pt x="1991581" y="1911917"/>
                </a:lnTo>
                <a:lnTo>
                  <a:pt x="0" y="191191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GB"/>
          </a:p>
        </p:txBody>
      </p:sp>
      <p:sp>
        <p:nvSpPr>
          <p:cNvPr id="17" name="TextBox 17"/>
          <p:cNvSpPr txBox="1"/>
          <p:nvPr/>
        </p:nvSpPr>
        <p:spPr>
          <a:xfrm>
            <a:off x="1981200" y="280703"/>
            <a:ext cx="12192000" cy="1231106"/>
          </a:xfrm>
          <a:prstGeom prst="rect">
            <a:avLst/>
          </a:prstGeom>
        </p:spPr>
        <p:txBody>
          <a:bodyPr wrap="square" lIns="0" tIns="0" rIns="0" bIns="0" rtlCol="0" anchor="t">
            <a:spAutoFit/>
          </a:bodyPr>
          <a:lstStyle/>
          <a:p>
            <a:pPr algn="ctr">
              <a:lnSpc>
                <a:spcPct val="100000"/>
              </a:lnSpc>
            </a:pPr>
            <a:r>
              <a:rPr lang="en-GB" sz="8000" dirty="0">
                <a:solidFill>
                  <a:srgbClr val="3A3E61"/>
                </a:solidFill>
                <a:latin typeface="Extenda 90 Exa"/>
              </a:rPr>
              <a:t>Simulation Outputs &amp; UI</a:t>
            </a:r>
          </a:p>
        </p:txBody>
      </p:sp>
      <p:sp>
        <p:nvSpPr>
          <p:cNvPr id="18" name="TextBox 18"/>
          <p:cNvSpPr txBox="1"/>
          <p:nvPr/>
        </p:nvSpPr>
        <p:spPr>
          <a:xfrm>
            <a:off x="15425164" y="837629"/>
            <a:ext cx="1094217" cy="410718"/>
          </a:xfrm>
          <a:prstGeom prst="rect">
            <a:avLst/>
          </a:prstGeom>
        </p:spPr>
        <p:txBody>
          <a:bodyPr lIns="0" tIns="0" rIns="0" bIns="0" rtlCol="0" anchor="t">
            <a:spAutoFit/>
          </a:bodyPr>
          <a:lstStyle/>
          <a:p>
            <a:pPr algn="l">
              <a:lnSpc>
                <a:spcPts val="3275"/>
              </a:lnSpc>
            </a:pPr>
            <a:r>
              <a:rPr lang="en-US" sz="2799" b="1">
                <a:solidFill>
                  <a:srgbClr val="FFFFFF"/>
                </a:solidFill>
                <a:latin typeface="TT Fors Bold"/>
                <a:ea typeface="TT Fors Bold"/>
                <a:cs typeface="TT Fors Bold"/>
                <a:sym typeface="TT Fors Bold"/>
              </a:rPr>
              <a:t>Page</a:t>
            </a:r>
          </a:p>
        </p:txBody>
      </p:sp>
      <p:sp>
        <p:nvSpPr>
          <p:cNvPr id="19" name="TextBox 19"/>
          <p:cNvSpPr txBox="1"/>
          <p:nvPr/>
        </p:nvSpPr>
        <p:spPr>
          <a:xfrm>
            <a:off x="16572511" y="818579"/>
            <a:ext cx="749445" cy="547116"/>
          </a:xfrm>
          <a:prstGeom prst="rect">
            <a:avLst/>
          </a:prstGeom>
        </p:spPr>
        <p:txBody>
          <a:bodyPr lIns="0" tIns="0" rIns="0" bIns="0" rtlCol="0" anchor="t">
            <a:spAutoFit/>
          </a:bodyPr>
          <a:lstStyle/>
          <a:p>
            <a:pPr algn="ctr">
              <a:lnSpc>
                <a:spcPts val="4211"/>
              </a:lnSpc>
            </a:pPr>
            <a:r>
              <a:rPr lang="en-US" sz="3599">
                <a:solidFill>
                  <a:srgbClr val="FFFFFF"/>
                </a:solidFill>
                <a:latin typeface="Extenda 90 Exa"/>
                <a:ea typeface="Extenda 90 Exa"/>
                <a:cs typeface="Extenda 90 Exa"/>
                <a:sym typeface="Extenda 90 Exa"/>
              </a:rPr>
              <a:t>07</a:t>
            </a:r>
          </a:p>
        </p:txBody>
      </p:sp>
      <p:pic>
        <p:nvPicPr>
          <p:cNvPr id="21" name="Picture 20">
            <a:extLst>
              <a:ext uri="{FF2B5EF4-FFF2-40B4-BE49-F238E27FC236}">
                <a16:creationId xmlns:a16="http://schemas.microsoft.com/office/drawing/2014/main" id="{A1F6F685-6EF7-6CAD-0616-F7234A20942B}"/>
              </a:ext>
            </a:extLst>
          </p:cNvPr>
          <p:cNvPicPr>
            <a:picLocks noChangeAspect="1"/>
          </p:cNvPicPr>
          <p:nvPr/>
        </p:nvPicPr>
        <p:blipFill>
          <a:blip r:embed="rId4"/>
          <a:stretch>
            <a:fillRect/>
          </a:stretch>
        </p:blipFill>
        <p:spPr>
          <a:xfrm>
            <a:off x="8610600" y="1511809"/>
            <a:ext cx="4372407" cy="7375560"/>
          </a:xfrm>
          <a:prstGeom prst="rect">
            <a:avLst/>
          </a:prstGeom>
        </p:spPr>
      </p:pic>
      <p:pic>
        <p:nvPicPr>
          <p:cNvPr id="23" name="Picture 22">
            <a:extLst>
              <a:ext uri="{FF2B5EF4-FFF2-40B4-BE49-F238E27FC236}">
                <a16:creationId xmlns:a16="http://schemas.microsoft.com/office/drawing/2014/main" id="{3161FE67-9F2B-B8BF-BDD4-C7760A5DE88D}"/>
              </a:ext>
            </a:extLst>
          </p:cNvPr>
          <p:cNvPicPr>
            <a:picLocks noChangeAspect="1"/>
          </p:cNvPicPr>
          <p:nvPr/>
        </p:nvPicPr>
        <p:blipFill>
          <a:blip r:embed="rId5"/>
          <a:stretch>
            <a:fillRect/>
          </a:stretch>
        </p:blipFill>
        <p:spPr>
          <a:xfrm>
            <a:off x="12996845" y="1513978"/>
            <a:ext cx="4292198" cy="784890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1EDE2"/>
        </a:solidFill>
        <a:effectLst/>
      </p:bgPr>
    </p:bg>
    <p:spTree>
      <p:nvGrpSpPr>
        <p:cNvPr id="1" name=""/>
        <p:cNvGrpSpPr/>
        <p:nvPr/>
      </p:nvGrpSpPr>
      <p:grpSpPr>
        <a:xfrm>
          <a:off x="0" y="0"/>
          <a:ext cx="0" cy="0"/>
          <a:chOff x="0" y="0"/>
          <a:chExt cx="0" cy="0"/>
        </a:xfrm>
      </p:grpSpPr>
      <p:grpSp>
        <p:nvGrpSpPr>
          <p:cNvPr id="2" name="Group 2"/>
          <p:cNvGrpSpPr/>
          <p:nvPr/>
        </p:nvGrpSpPr>
        <p:grpSpPr>
          <a:xfrm>
            <a:off x="-1614662" y="-235831"/>
            <a:ext cx="21517324" cy="10758662"/>
            <a:chOff x="0" y="0"/>
            <a:chExt cx="28689765" cy="14344882"/>
          </a:xfrm>
        </p:grpSpPr>
        <p:sp>
          <p:nvSpPr>
            <p:cNvPr id="3" name="Freeform 3"/>
            <p:cNvSpPr/>
            <p:nvPr/>
          </p:nvSpPr>
          <p:spPr>
            <a:xfrm>
              <a:off x="0" y="0"/>
              <a:ext cx="7172441" cy="7172441"/>
            </a:xfrm>
            <a:custGeom>
              <a:avLst/>
              <a:gdLst/>
              <a:ahLst/>
              <a:cxnLst/>
              <a:rect l="l" t="t" r="r" b="b"/>
              <a:pathLst>
                <a:path w="7172441" h="7172441">
                  <a:moveTo>
                    <a:pt x="0" y="0"/>
                  </a:moveTo>
                  <a:lnTo>
                    <a:pt x="7172441" y="0"/>
                  </a:lnTo>
                  <a:lnTo>
                    <a:pt x="7172441" y="7172441"/>
                  </a:lnTo>
                  <a:lnTo>
                    <a:pt x="0" y="7172441"/>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txBody>
            <a:bodyPr/>
            <a:lstStyle/>
            <a:p>
              <a:endParaRPr lang="en-GB"/>
            </a:p>
          </p:txBody>
        </p:sp>
        <p:sp>
          <p:nvSpPr>
            <p:cNvPr id="4" name="Freeform 4"/>
            <p:cNvSpPr/>
            <p:nvPr/>
          </p:nvSpPr>
          <p:spPr>
            <a:xfrm>
              <a:off x="0" y="7172441"/>
              <a:ext cx="7172441" cy="7172441"/>
            </a:xfrm>
            <a:custGeom>
              <a:avLst/>
              <a:gdLst/>
              <a:ahLst/>
              <a:cxnLst/>
              <a:rect l="l" t="t" r="r" b="b"/>
              <a:pathLst>
                <a:path w="7172441" h="7172441">
                  <a:moveTo>
                    <a:pt x="0" y="0"/>
                  </a:moveTo>
                  <a:lnTo>
                    <a:pt x="7172441" y="0"/>
                  </a:lnTo>
                  <a:lnTo>
                    <a:pt x="7172441" y="7172441"/>
                  </a:lnTo>
                  <a:lnTo>
                    <a:pt x="0" y="7172441"/>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txBody>
            <a:bodyPr/>
            <a:lstStyle/>
            <a:p>
              <a:endParaRPr lang="en-GB"/>
            </a:p>
          </p:txBody>
        </p:sp>
        <p:sp>
          <p:nvSpPr>
            <p:cNvPr id="5" name="Freeform 5"/>
            <p:cNvSpPr/>
            <p:nvPr/>
          </p:nvSpPr>
          <p:spPr>
            <a:xfrm>
              <a:off x="7172441" y="0"/>
              <a:ext cx="7172441" cy="7172441"/>
            </a:xfrm>
            <a:custGeom>
              <a:avLst/>
              <a:gdLst/>
              <a:ahLst/>
              <a:cxnLst/>
              <a:rect l="l" t="t" r="r" b="b"/>
              <a:pathLst>
                <a:path w="7172441" h="7172441">
                  <a:moveTo>
                    <a:pt x="0" y="0"/>
                  </a:moveTo>
                  <a:lnTo>
                    <a:pt x="7172441" y="0"/>
                  </a:lnTo>
                  <a:lnTo>
                    <a:pt x="7172441" y="7172441"/>
                  </a:lnTo>
                  <a:lnTo>
                    <a:pt x="0" y="7172441"/>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txBody>
            <a:bodyPr/>
            <a:lstStyle/>
            <a:p>
              <a:endParaRPr lang="en-GB"/>
            </a:p>
          </p:txBody>
        </p:sp>
        <p:sp>
          <p:nvSpPr>
            <p:cNvPr id="6" name="Freeform 6"/>
            <p:cNvSpPr/>
            <p:nvPr/>
          </p:nvSpPr>
          <p:spPr>
            <a:xfrm>
              <a:off x="7172441" y="7172441"/>
              <a:ext cx="7172441" cy="7172441"/>
            </a:xfrm>
            <a:custGeom>
              <a:avLst/>
              <a:gdLst/>
              <a:ahLst/>
              <a:cxnLst/>
              <a:rect l="l" t="t" r="r" b="b"/>
              <a:pathLst>
                <a:path w="7172441" h="7172441">
                  <a:moveTo>
                    <a:pt x="0" y="0"/>
                  </a:moveTo>
                  <a:lnTo>
                    <a:pt x="7172441" y="0"/>
                  </a:lnTo>
                  <a:lnTo>
                    <a:pt x="7172441" y="7172441"/>
                  </a:lnTo>
                  <a:lnTo>
                    <a:pt x="0" y="7172441"/>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txBody>
            <a:bodyPr/>
            <a:lstStyle/>
            <a:p>
              <a:endParaRPr lang="en-GB"/>
            </a:p>
          </p:txBody>
        </p:sp>
        <p:sp>
          <p:nvSpPr>
            <p:cNvPr id="7" name="Freeform 7"/>
            <p:cNvSpPr/>
            <p:nvPr/>
          </p:nvSpPr>
          <p:spPr>
            <a:xfrm>
              <a:off x="14344882" y="0"/>
              <a:ext cx="7172441" cy="7172441"/>
            </a:xfrm>
            <a:custGeom>
              <a:avLst/>
              <a:gdLst/>
              <a:ahLst/>
              <a:cxnLst/>
              <a:rect l="l" t="t" r="r" b="b"/>
              <a:pathLst>
                <a:path w="7172441" h="7172441">
                  <a:moveTo>
                    <a:pt x="0" y="0"/>
                  </a:moveTo>
                  <a:lnTo>
                    <a:pt x="7172442" y="0"/>
                  </a:lnTo>
                  <a:lnTo>
                    <a:pt x="7172442" y="7172441"/>
                  </a:lnTo>
                  <a:lnTo>
                    <a:pt x="0" y="7172441"/>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txBody>
            <a:bodyPr/>
            <a:lstStyle/>
            <a:p>
              <a:endParaRPr lang="en-GB"/>
            </a:p>
          </p:txBody>
        </p:sp>
        <p:sp>
          <p:nvSpPr>
            <p:cNvPr id="8" name="Freeform 8"/>
            <p:cNvSpPr/>
            <p:nvPr/>
          </p:nvSpPr>
          <p:spPr>
            <a:xfrm>
              <a:off x="14344882" y="7172441"/>
              <a:ext cx="7172441" cy="7172441"/>
            </a:xfrm>
            <a:custGeom>
              <a:avLst/>
              <a:gdLst/>
              <a:ahLst/>
              <a:cxnLst/>
              <a:rect l="l" t="t" r="r" b="b"/>
              <a:pathLst>
                <a:path w="7172441" h="7172441">
                  <a:moveTo>
                    <a:pt x="0" y="0"/>
                  </a:moveTo>
                  <a:lnTo>
                    <a:pt x="7172442" y="0"/>
                  </a:lnTo>
                  <a:lnTo>
                    <a:pt x="7172442" y="7172441"/>
                  </a:lnTo>
                  <a:lnTo>
                    <a:pt x="0" y="7172441"/>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txBody>
            <a:bodyPr/>
            <a:lstStyle/>
            <a:p>
              <a:endParaRPr lang="en-GB"/>
            </a:p>
          </p:txBody>
        </p:sp>
        <p:sp>
          <p:nvSpPr>
            <p:cNvPr id="9" name="Freeform 9"/>
            <p:cNvSpPr/>
            <p:nvPr/>
          </p:nvSpPr>
          <p:spPr>
            <a:xfrm>
              <a:off x="21517324" y="0"/>
              <a:ext cx="7172441" cy="7172441"/>
            </a:xfrm>
            <a:custGeom>
              <a:avLst/>
              <a:gdLst/>
              <a:ahLst/>
              <a:cxnLst/>
              <a:rect l="l" t="t" r="r" b="b"/>
              <a:pathLst>
                <a:path w="7172441" h="7172441">
                  <a:moveTo>
                    <a:pt x="0" y="0"/>
                  </a:moveTo>
                  <a:lnTo>
                    <a:pt x="7172441" y="0"/>
                  </a:lnTo>
                  <a:lnTo>
                    <a:pt x="7172441" y="7172441"/>
                  </a:lnTo>
                  <a:lnTo>
                    <a:pt x="0" y="7172441"/>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txBody>
            <a:bodyPr/>
            <a:lstStyle/>
            <a:p>
              <a:endParaRPr lang="en-GB"/>
            </a:p>
          </p:txBody>
        </p:sp>
        <p:sp>
          <p:nvSpPr>
            <p:cNvPr id="10" name="Freeform 10"/>
            <p:cNvSpPr/>
            <p:nvPr/>
          </p:nvSpPr>
          <p:spPr>
            <a:xfrm>
              <a:off x="21517324" y="7172441"/>
              <a:ext cx="7172441" cy="7172441"/>
            </a:xfrm>
            <a:custGeom>
              <a:avLst/>
              <a:gdLst/>
              <a:ahLst/>
              <a:cxnLst/>
              <a:rect l="l" t="t" r="r" b="b"/>
              <a:pathLst>
                <a:path w="7172441" h="7172441">
                  <a:moveTo>
                    <a:pt x="0" y="0"/>
                  </a:moveTo>
                  <a:lnTo>
                    <a:pt x="7172441" y="0"/>
                  </a:lnTo>
                  <a:lnTo>
                    <a:pt x="7172441" y="7172441"/>
                  </a:lnTo>
                  <a:lnTo>
                    <a:pt x="0" y="7172441"/>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txBody>
            <a:bodyPr/>
            <a:lstStyle/>
            <a:p>
              <a:endParaRPr lang="en-GB"/>
            </a:p>
          </p:txBody>
        </p:sp>
      </p:grpSp>
      <p:grpSp>
        <p:nvGrpSpPr>
          <p:cNvPr id="11" name="Group 11"/>
          <p:cNvGrpSpPr/>
          <p:nvPr/>
        </p:nvGrpSpPr>
        <p:grpSpPr>
          <a:xfrm>
            <a:off x="15066413" y="683012"/>
            <a:ext cx="2065807" cy="749445"/>
            <a:chOff x="0" y="0"/>
            <a:chExt cx="1120221" cy="406400"/>
          </a:xfrm>
        </p:grpSpPr>
        <p:sp>
          <p:nvSpPr>
            <p:cNvPr id="12" name="Freeform 12"/>
            <p:cNvSpPr/>
            <p:nvPr/>
          </p:nvSpPr>
          <p:spPr>
            <a:xfrm>
              <a:off x="0" y="0"/>
              <a:ext cx="1120221" cy="406400"/>
            </a:xfrm>
            <a:custGeom>
              <a:avLst/>
              <a:gdLst/>
              <a:ahLst/>
              <a:cxnLst/>
              <a:rect l="l" t="t" r="r" b="b"/>
              <a:pathLst>
                <a:path w="1120221" h="406400">
                  <a:moveTo>
                    <a:pt x="917021" y="0"/>
                  </a:moveTo>
                  <a:cubicBezTo>
                    <a:pt x="1029246" y="0"/>
                    <a:pt x="1120221" y="90976"/>
                    <a:pt x="1120221" y="203200"/>
                  </a:cubicBezTo>
                  <a:cubicBezTo>
                    <a:pt x="1120221" y="315424"/>
                    <a:pt x="1029246" y="406400"/>
                    <a:pt x="917021" y="406400"/>
                  </a:cubicBezTo>
                  <a:lnTo>
                    <a:pt x="203200" y="406400"/>
                  </a:lnTo>
                  <a:cubicBezTo>
                    <a:pt x="90976" y="406400"/>
                    <a:pt x="0" y="315424"/>
                    <a:pt x="0" y="203200"/>
                  </a:cubicBezTo>
                  <a:cubicBezTo>
                    <a:pt x="0" y="90976"/>
                    <a:pt x="90976" y="0"/>
                    <a:pt x="203200" y="0"/>
                  </a:cubicBezTo>
                  <a:close/>
                </a:path>
              </a:pathLst>
            </a:custGeom>
            <a:solidFill>
              <a:srgbClr val="343434"/>
            </a:solidFill>
          </p:spPr>
          <p:txBody>
            <a:bodyPr/>
            <a:lstStyle/>
            <a:p>
              <a:endParaRPr lang="en-GB"/>
            </a:p>
          </p:txBody>
        </p:sp>
        <p:sp>
          <p:nvSpPr>
            <p:cNvPr id="13" name="TextBox 13"/>
            <p:cNvSpPr txBox="1"/>
            <p:nvPr/>
          </p:nvSpPr>
          <p:spPr>
            <a:xfrm>
              <a:off x="0" y="-38100"/>
              <a:ext cx="1120221" cy="444500"/>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6543936" y="646641"/>
            <a:ext cx="822187" cy="822187"/>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3E61"/>
            </a:solidFill>
          </p:spPr>
          <p:txBody>
            <a:bodyPr/>
            <a:lstStyle/>
            <a:p>
              <a:endParaRPr lang="en-GB"/>
            </a:p>
          </p:txBody>
        </p:sp>
        <p:sp>
          <p:nvSpPr>
            <p:cNvPr id="18" name="TextBox 18"/>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0" name="TextBox 20"/>
          <p:cNvSpPr txBox="1"/>
          <p:nvPr/>
        </p:nvSpPr>
        <p:spPr>
          <a:xfrm>
            <a:off x="1421023" y="1092137"/>
            <a:ext cx="13824766" cy="1744067"/>
          </a:xfrm>
          <a:prstGeom prst="rect">
            <a:avLst/>
          </a:prstGeom>
        </p:spPr>
        <p:txBody>
          <a:bodyPr wrap="square" lIns="0" tIns="0" rIns="0" bIns="0" rtlCol="0" anchor="t">
            <a:spAutoFit/>
          </a:bodyPr>
          <a:lstStyle/>
          <a:p>
            <a:pPr algn="l">
              <a:lnSpc>
                <a:spcPts val="6400"/>
              </a:lnSpc>
            </a:pPr>
            <a:r>
              <a:rPr lang="en-US" sz="8000" dirty="0">
                <a:solidFill>
                  <a:srgbClr val="3A3E61"/>
                </a:solidFill>
                <a:latin typeface="Extenda 90 Exa"/>
                <a:ea typeface="Extenda 90 Exa"/>
                <a:cs typeface="Extenda 90 Exa"/>
                <a:sym typeface="Extenda 90 Exa"/>
              </a:rPr>
              <a:t>Real-World Applications and Future Use</a:t>
            </a:r>
          </a:p>
        </p:txBody>
      </p:sp>
      <p:sp>
        <p:nvSpPr>
          <p:cNvPr id="21" name="TextBox 21"/>
          <p:cNvSpPr txBox="1"/>
          <p:nvPr/>
        </p:nvSpPr>
        <p:spPr>
          <a:xfrm>
            <a:off x="15425164" y="837629"/>
            <a:ext cx="1094217" cy="410718"/>
          </a:xfrm>
          <a:prstGeom prst="rect">
            <a:avLst/>
          </a:prstGeom>
        </p:spPr>
        <p:txBody>
          <a:bodyPr lIns="0" tIns="0" rIns="0" bIns="0" rtlCol="0" anchor="t">
            <a:spAutoFit/>
          </a:bodyPr>
          <a:lstStyle/>
          <a:p>
            <a:pPr algn="l">
              <a:lnSpc>
                <a:spcPts val="3275"/>
              </a:lnSpc>
            </a:pPr>
            <a:r>
              <a:rPr lang="en-US" sz="2799" b="1">
                <a:solidFill>
                  <a:srgbClr val="FFFFFF"/>
                </a:solidFill>
                <a:latin typeface="TT Fors Bold"/>
                <a:ea typeface="TT Fors Bold"/>
                <a:cs typeface="TT Fors Bold"/>
                <a:sym typeface="TT Fors Bold"/>
              </a:rPr>
              <a:t>Page</a:t>
            </a:r>
          </a:p>
        </p:txBody>
      </p:sp>
      <p:sp>
        <p:nvSpPr>
          <p:cNvPr id="22" name="TextBox 22"/>
          <p:cNvSpPr txBox="1"/>
          <p:nvPr/>
        </p:nvSpPr>
        <p:spPr>
          <a:xfrm>
            <a:off x="16572511" y="818579"/>
            <a:ext cx="749445" cy="547116"/>
          </a:xfrm>
          <a:prstGeom prst="rect">
            <a:avLst/>
          </a:prstGeom>
        </p:spPr>
        <p:txBody>
          <a:bodyPr lIns="0" tIns="0" rIns="0" bIns="0" rtlCol="0" anchor="t">
            <a:spAutoFit/>
          </a:bodyPr>
          <a:lstStyle/>
          <a:p>
            <a:pPr algn="ctr">
              <a:lnSpc>
                <a:spcPts val="4211"/>
              </a:lnSpc>
            </a:pPr>
            <a:r>
              <a:rPr lang="en-US" sz="3599">
                <a:solidFill>
                  <a:srgbClr val="FFFFFF"/>
                </a:solidFill>
                <a:latin typeface="Extenda 90 Exa"/>
                <a:ea typeface="Extenda 90 Exa"/>
                <a:cs typeface="Extenda 90 Exa"/>
                <a:sym typeface="Extenda 90 Exa"/>
              </a:rPr>
              <a:t>08</a:t>
            </a:r>
          </a:p>
        </p:txBody>
      </p:sp>
      <p:sp>
        <p:nvSpPr>
          <p:cNvPr id="23" name="TextBox 23"/>
          <p:cNvSpPr txBox="1"/>
          <p:nvPr/>
        </p:nvSpPr>
        <p:spPr>
          <a:xfrm>
            <a:off x="1295400" y="3592453"/>
            <a:ext cx="15993643" cy="4431983"/>
          </a:xfrm>
          <a:prstGeom prst="rect">
            <a:avLst/>
          </a:prstGeom>
        </p:spPr>
        <p:txBody>
          <a:bodyPr wrap="square" lIns="0" tIns="0" rIns="0" bIns="0" rtlCol="0" anchor="t">
            <a:spAutoFit/>
          </a:bodyPr>
          <a:lstStyle/>
          <a:p>
            <a:r>
              <a:rPr lang="en-US" sz="3600" b="1" dirty="0">
                <a:solidFill>
                  <a:schemeClr val="tx2"/>
                </a:solidFill>
              </a:rPr>
              <a:t>Future Development:</a:t>
            </a:r>
            <a:endParaRPr lang="en-US" sz="3600" dirty="0">
              <a:solidFill>
                <a:schemeClr val="tx2"/>
              </a:solidFill>
            </a:endParaRPr>
          </a:p>
          <a:p>
            <a:r>
              <a:rPr lang="en-US" sz="3600" dirty="0">
                <a:solidFill>
                  <a:schemeClr val="tx2"/>
                </a:solidFill>
              </a:rPr>
              <a:t>In the future, STL-based systems can be improved by integrating machine learning to optimize product arrangement, predict demand, and manage warehouse operations dynamically. The system could automatically select suitable storage locations based on product demand and availability, prioritize urgent orders, and plan efficient routes for automated robots. Battery monitoring and charging schedules could also be introduced to ensure continuous operation. These improvements would help make storage and retrieval systems more organized, efficient, and reliable.</a:t>
            </a:r>
          </a:p>
        </p:txBody>
      </p:sp>
      <p:sp>
        <p:nvSpPr>
          <p:cNvPr id="19" name="Freeform 19"/>
          <p:cNvSpPr/>
          <p:nvPr/>
        </p:nvSpPr>
        <p:spPr>
          <a:xfrm>
            <a:off x="5771790" y="8882436"/>
            <a:ext cx="3142583" cy="3051162"/>
          </a:xfrm>
          <a:custGeom>
            <a:avLst/>
            <a:gdLst/>
            <a:ahLst/>
            <a:cxnLst/>
            <a:rect l="l" t="t" r="r" b="b"/>
            <a:pathLst>
              <a:path w="3142583" h="3051162">
                <a:moveTo>
                  <a:pt x="0" y="0"/>
                </a:moveTo>
                <a:lnTo>
                  <a:pt x="3142583" y="0"/>
                </a:lnTo>
                <a:lnTo>
                  <a:pt x="3142583" y="3051162"/>
                </a:lnTo>
                <a:lnTo>
                  <a:pt x="0" y="305116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GB" sz="5400"/>
          </a:p>
        </p:txBody>
      </p:sp>
      <p:sp>
        <p:nvSpPr>
          <p:cNvPr id="14" name="TextBox 13">
            <a:extLst>
              <a:ext uri="{FF2B5EF4-FFF2-40B4-BE49-F238E27FC236}">
                <a16:creationId xmlns:a16="http://schemas.microsoft.com/office/drawing/2014/main" id="{50CBFA2A-4E04-40F2-591E-E58C984FD321}"/>
              </a:ext>
            </a:extLst>
          </p:cNvPr>
          <p:cNvSpPr txBox="1"/>
          <p:nvPr/>
        </p:nvSpPr>
        <p:spPr>
          <a:xfrm>
            <a:off x="20102945" y="5527964"/>
            <a:ext cx="184731" cy="369332"/>
          </a:xfrm>
          <a:prstGeom prst="rect">
            <a:avLst/>
          </a:prstGeom>
          <a:noFill/>
        </p:spPr>
        <p:txBody>
          <a:bodyPr wrap="none" rtlCol="0">
            <a:spAutoFit/>
          </a:bodyPr>
          <a:lstStyle/>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1EDE2"/>
        </a:solidFill>
        <a:effectLst/>
      </p:bgPr>
    </p:bg>
    <p:spTree>
      <p:nvGrpSpPr>
        <p:cNvPr id="1" name=""/>
        <p:cNvGrpSpPr/>
        <p:nvPr/>
      </p:nvGrpSpPr>
      <p:grpSpPr>
        <a:xfrm>
          <a:off x="0" y="0"/>
          <a:ext cx="0" cy="0"/>
          <a:chOff x="0" y="0"/>
          <a:chExt cx="0" cy="0"/>
        </a:xfrm>
      </p:grpSpPr>
      <p:grpSp>
        <p:nvGrpSpPr>
          <p:cNvPr id="2" name="Group 2"/>
          <p:cNvGrpSpPr/>
          <p:nvPr/>
        </p:nvGrpSpPr>
        <p:grpSpPr>
          <a:xfrm>
            <a:off x="-1614662" y="-235831"/>
            <a:ext cx="21517324" cy="10758662"/>
            <a:chOff x="0" y="0"/>
            <a:chExt cx="28689765" cy="14344882"/>
          </a:xfrm>
        </p:grpSpPr>
        <p:sp>
          <p:nvSpPr>
            <p:cNvPr id="3" name="Freeform 3"/>
            <p:cNvSpPr/>
            <p:nvPr/>
          </p:nvSpPr>
          <p:spPr>
            <a:xfrm>
              <a:off x="0" y="0"/>
              <a:ext cx="7172441" cy="7172441"/>
            </a:xfrm>
            <a:custGeom>
              <a:avLst/>
              <a:gdLst/>
              <a:ahLst/>
              <a:cxnLst/>
              <a:rect l="l" t="t" r="r" b="b"/>
              <a:pathLst>
                <a:path w="7172441" h="7172441">
                  <a:moveTo>
                    <a:pt x="0" y="0"/>
                  </a:moveTo>
                  <a:lnTo>
                    <a:pt x="7172441" y="0"/>
                  </a:lnTo>
                  <a:lnTo>
                    <a:pt x="7172441" y="7172441"/>
                  </a:lnTo>
                  <a:lnTo>
                    <a:pt x="0" y="7172441"/>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txBody>
            <a:bodyPr/>
            <a:lstStyle/>
            <a:p>
              <a:endParaRPr lang="en-GB"/>
            </a:p>
          </p:txBody>
        </p:sp>
        <p:sp>
          <p:nvSpPr>
            <p:cNvPr id="4" name="Freeform 4"/>
            <p:cNvSpPr/>
            <p:nvPr/>
          </p:nvSpPr>
          <p:spPr>
            <a:xfrm>
              <a:off x="0" y="7172441"/>
              <a:ext cx="7172441" cy="7172441"/>
            </a:xfrm>
            <a:custGeom>
              <a:avLst/>
              <a:gdLst/>
              <a:ahLst/>
              <a:cxnLst/>
              <a:rect l="l" t="t" r="r" b="b"/>
              <a:pathLst>
                <a:path w="7172441" h="7172441">
                  <a:moveTo>
                    <a:pt x="0" y="0"/>
                  </a:moveTo>
                  <a:lnTo>
                    <a:pt x="7172441" y="0"/>
                  </a:lnTo>
                  <a:lnTo>
                    <a:pt x="7172441" y="7172441"/>
                  </a:lnTo>
                  <a:lnTo>
                    <a:pt x="0" y="7172441"/>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txBody>
            <a:bodyPr/>
            <a:lstStyle/>
            <a:p>
              <a:endParaRPr lang="en-GB"/>
            </a:p>
          </p:txBody>
        </p:sp>
        <p:sp>
          <p:nvSpPr>
            <p:cNvPr id="5" name="Freeform 5"/>
            <p:cNvSpPr/>
            <p:nvPr/>
          </p:nvSpPr>
          <p:spPr>
            <a:xfrm>
              <a:off x="7172441" y="0"/>
              <a:ext cx="7172441" cy="7172441"/>
            </a:xfrm>
            <a:custGeom>
              <a:avLst/>
              <a:gdLst/>
              <a:ahLst/>
              <a:cxnLst/>
              <a:rect l="l" t="t" r="r" b="b"/>
              <a:pathLst>
                <a:path w="7172441" h="7172441">
                  <a:moveTo>
                    <a:pt x="0" y="0"/>
                  </a:moveTo>
                  <a:lnTo>
                    <a:pt x="7172441" y="0"/>
                  </a:lnTo>
                  <a:lnTo>
                    <a:pt x="7172441" y="7172441"/>
                  </a:lnTo>
                  <a:lnTo>
                    <a:pt x="0" y="7172441"/>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txBody>
            <a:bodyPr/>
            <a:lstStyle/>
            <a:p>
              <a:endParaRPr lang="en-GB"/>
            </a:p>
          </p:txBody>
        </p:sp>
        <p:sp>
          <p:nvSpPr>
            <p:cNvPr id="6" name="Freeform 6"/>
            <p:cNvSpPr/>
            <p:nvPr/>
          </p:nvSpPr>
          <p:spPr>
            <a:xfrm>
              <a:off x="7172441" y="7172441"/>
              <a:ext cx="7172441" cy="7172441"/>
            </a:xfrm>
            <a:custGeom>
              <a:avLst/>
              <a:gdLst/>
              <a:ahLst/>
              <a:cxnLst/>
              <a:rect l="l" t="t" r="r" b="b"/>
              <a:pathLst>
                <a:path w="7172441" h="7172441">
                  <a:moveTo>
                    <a:pt x="0" y="0"/>
                  </a:moveTo>
                  <a:lnTo>
                    <a:pt x="7172441" y="0"/>
                  </a:lnTo>
                  <a:lnTo>
                    <a:pt x="7172441" y="7172441"/>
                  </a:lnTo>
                  <a:lnTo>
                    <a:pt x="0" y="7172441"/>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txBody>
            <a:bodyPr/>
            <a:lstStyle/>
            <a:p>
              <a:endParaRPr lang="en-GB"/>
            </a:p>
          </p:txBody>
        </p:sp>
        <p:sp>
          <p:nvSpPr>
            <p:cNvPr id="7" name="Freeform 7"/>
            <p:cNvSpPr/>
            <p:nvPr/>
          </p:nvSpPr>
          <p:spPr>
            <a:xfrm>
              <a:off x="14344882" y="0"/>
              <a:ext cx="7172441" cy="7172441"/>
            </a:xfrm>
            <a:custGeom>
              <a:avLst/>
              <a:gdLst/>
              <a:ahLst/>
              <a:cxnLst/>
              <a:rect l="l" t="t" r="r" b="b"/>
              <a:pathLst>
                <a:path w="7172441" h="7172441">
                  <a:moveTo>
                    <a:pt x="0" y="0"/>
                  </a:moveTo>
                  <a:lnTo>
                    <a:pt x="7172442" y="0"/>
                  </a:lnTo>
                  <a:lnTo>
                    <a:pt x="7172442" y="7172441"/>
                  </a:lnTo>
                  <a:lnTo>
                    <a:pt x="0" y="7172441"/>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txBody>
            <a:bodyPr/>
            <a:lstStyle/>
            <a:p>
              <a:endParaRPr lang="en-GB"/>
            </a:p>
          </p:txBody>
        </p:sp>
        <p:sp>
          <p:nvSpPr>
            <p:cNvPr id="8" name="Freeform 8"/>
            <p:cNvSpPr/>
            <p:nvPr/>
          </p:nvSpPr>
          <p:spPr>
            <a:xfrm>
              <a:off x="14344882" y="7172441"/>
              <a:ext cx="7172441" cy="7172441"/>
            </a:xfrm>
            <a:custGeom>
              <a:avLst/>
              <a:gdLst/>
              <a:ahLst/>
              <a:cxnLst/>
              <a:rect l="l" t="t" r="r" b="b"/>
              <a:pathLst>
                <a:path w="7172441" h="7172441">
                  <a:moveTo>
                    <a:pt x="0" y="0"/>
                  </a:moveTo>
                  <a:lnTo>
                    <a:pt x="7172442" y="0"/>
                  </a:lnTo>
                  <a:lnTo>
                    <a:pt x="7172442" y="7172441"/>
                  </a:lnTo>
                  <a:lnTo>
                    <a:pt x="0" y="7172441"/>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txBody>
            <a:bodyPr/>
            <a:lstStyle/>
            <a:p>
              <a:endParaRPr lang="en-GB"/>
            </a:p>
          </p:txBody>
        </p:sp>
        <p:sp>
          <p:nvSpPr>
            <p:cNvPr id="9" name="Freeform 9"/>
            <p:cNvSpPr/>
            <p:nvPr/>
          </p:nvSpPr>
          <p:spPr>
            <a:xfrm>
              <a:off x="21517324" y="0"/>
              <a:ext cx="7172441" cy="7172441"/>
            </a:xfrm>
            <a:custGeom>
              <a:avLst/>
              <a:gdLst/>
              <a:ahLst/>
              <a:cxnLst/>
              <a:rect l="l" t="t" r="r" b="b"/>
              <a:pathLst>
                <a:path w="7172441" h="7172441">
                  <a:moveTo>
                    <a:pt x="0" y="0"/>
                  </a:moveTo>
                  <a:lnTo>
                    <a:pt x="7172441" y="0"/>
                  </a:lnTo>
                  <a:lnTo>
                    <a:pt x="7172441" y="7172441"/>
                  </a:lnTo>
                  <a:lnTo>
                    <a:pt x="0" y="7172441"/>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txBody>
            <a:bodyPr/>
            <a:lstStyle/>
            <a:p>
              <a:endParaRPr lang="en-GB"/>
            </a:p>
          </p:txBody>
        </p:sp>
        <p:sp>
          <p:nvSpPr>
            <p:cNvPr id="10" name="Freeform 10"/>
            <p:cNvSpPr/>
            <p:nvPr/>
          </p:nvSpPr>
          <p:spPr>
            <a:xfrm>
              <a:off x="21517324" y="7172441"/>
              <a:ext cx="7172441" cy="7172441"/>
            </a:xfrm>
            <a:custGeom>
              <a:avLst/>
              <a:gdLst/>
              <a:ahLst/>
              <a:cxnLst/>
              <a:rect l="l" t="t" r="r" b="b"/>
              <a:pathLst>
                <a:path w="7172441" h="7172441">
                  <a:moveTo>
                    <a:pt x="0" y="0"/>
                  </a:moveTo>
                  <a:lnTo>
                    <a:pt x="7172441" y="0"/>
                  </a:lnTo>
                  <a:lnTo>
                    <a:pt x="7172441" y="7172441"/>
                  </a:lnTo>
                  <a:lnTo>
                    <a:pt x="0" y="7172441"/>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txBody>
            <a:bodyPr/>
            <a:lstStyle/>
            <a:p>
              <a:endParaRPr lang="en-GB"/>
            </a:p>
          </p:txBody>
        </p:sp>
      </p:grpSp>
      <p:grpSp>
        <p:nvGrpSpPr>
          <p:cNvPr id="11" name="Group 11"/>
          <p:cNvGrpSpPr/>
          <p:nvPr/>
        </p:nvGrpSpPr>
        <p:grpSpPr>
          <a:xfrm>
            <a:off x="15066413" y="683012"/>
            <a:ext cx="2065807" cy="749445"/>
            <a:chOff x="0" y="0"/>
            <a:chExt cx="1120221" cy="406400"/>
          </a:xfrm>
        </p:grpSpPr>
        <p:sp>
          <p:nvSpPr>
            <p:cNvPr id="12" name="Freeform 12"/>
            <p:cNvSpPr/>
            <p:nvPr/>
          </p:nvSpPr>
          <p:spPr>
            <a:xfrm>
              <a:off x="0" y="0"/>
              <a:ext cx="1120221" cy="406400"/>
            </a:xfrm>
            <a:custGeom>
              <a:avLst/>
              <a:gdLst/>
              <a:ahLst/>
              <a:cxnLst/>
              <a:rect l="l" t="t" r="r" b="b"/>
              <a:pathLst>
                <a:path w="1120221" h="406400">
                  <a:moveTo>
                    <a:pt x="917021" y="0"/>
                  </a:moveTo>
                  <a:cubicBezTo>
                    <a:pt x="1029246" y="0"/>
                    <a:pt x="1120221" y="90976"/>
                    <a:pt x="1120221" y="203200"/>
                  </a:cubicBezTo>
                  <a:cubicBezTo>
                    <a:pt x="1120221" y="315424"/>
                    <a:pt x="1029246" y="406400"/>
                    <a:pt x="917021" y="406400"/>
                  </a:cubicBezTo>
                  <a:lnTo>
                    <a:pt x="203200" y="406400"/>
                  </a:lnTo>
                  <a:cubicBezTo>
                    <a:pt x="90976" y="406400"/>
                    <a:pt x="0" y="315424"/>
                    <a:pt x="0" y="203200"/>
                  </a:cubicBezTo>
                  <a:cubicBezTo>
                    <a:pt x="0" y="90976"/>
                    <a:pt x="90976" y="0"/>
                    <a:pt x="203200" y="0"/>
                  </a:cubicBezTo>
                  <a:close/>
                </a:path>
              </a:pathLst>
            </a:custGeom>
            <a:solidFill>
              <a:srgbClr val="343434"/>
            </a:solidFill>
          </p:spPr>
          <p:txBody>
            <a:bodyPr/>
            <a:lstStyle/>
            <a:p>
              <a:endParaRPr lang="en-GB"/>
            </a:p>
          </p:txBody>
        </p:sp>
        <p:sp>
          <p:nvSpPr>
            <p:cNvPr id="13" name="TextBox 13"/>
            <p:cNvSpPr txBox="1"/>
            <p:nvPr/>
          </p:nvSpPr>
          <p:spPr>
            <a:xfrm>
              <a:off x="0" y="-38100"/>
              <a:ext cx="1120221" cy="444500"/>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2072470" y="3223386"/>
            <a:ext cx="14874763" cy="6588782"/>
          </a:xfrm>
          <a:prstGeom prst="rect">
            <a:avLst/>
          </a:prstGeom>
        </p:spPr>
        <p:txBody>
          <a:bodyPr lIns="0" tIns="0" rIns="0" bIns="0" rtlCol="0" anchor="t">
            <a:spAutoFit/>
          </a:bodyPr>
          <a:lstStyle/>
          <a:p>
            <a:pPr algn="ctr">
              <a:lnSpc>
                <a:spcPts val="24410"/>
              </a:lnSpc>
            </a:pPr>
            <a:r>
              <a:rPr lang="en-US" sz="30512">
                <a:solidFill>
                  <a:srgbClr val="3A3E61"/>
                </a:solidFill>
                <a:latin typeface="Extenda 90 Exa"/>
                <a:ea typeface="Extenda 90 Exa"/>
                <a:cs typeface="Extenda 90 Exa"/>
                <a:sym typeface="Extenda 90 Exa"/>
              </a:rPr>
              <a:t>THANK YOU</a:t>
            </a:r>
          </a:p>
        </p:txBody>
      </p:sp>
      <p:sp>
        <p:nvSpPr>
          <p:cNvPr id="15" name="TextBox 15"/>
          <p:cNvSpPr txBox="1"/>
          <p:nvPr/>
        </p:nvSpPr>
        <p:spPr>
          <a:xfrm>
            <a:off x="15425164" y="837629"/>
            <a:ext cx="1094217" cy="410718"/>
          </a:xfrm>
          <a:prstGeom prst="rect">
            <a:avLst/>
          </a:prstGeom>
        </p:spPr>
        <p:txBody>
          <a:bodyPr lIns="0" tIns="0" rIns="0" bIns="0" rtlCol="0" anchor="t">
            <a:spAutoFit/>
          </a:bodyPr>
          <a:lstStyle/>
          <a:p>
            <a:pPr algn="l">
              <a:lnSpc>
                <a:spcPts val="3275"/>
              </a:lnSpc>
            </a:pPr>
            <a:r>
              <a:rPr lang="en-US" sz="2799" b="1">
                <a:solidFill>
                  <a:srgbClr val="FFFFFF"/>
                </a:solidFill>
                <a:latin typeface="TT Fors Bold"/>
                <a:ea typeface="TT Fors Bold"/>
                <a:cs typeface="TT Fors Bold"/>
                <a:sym typeface="TT Fors Bold"/>
              </a:rPr>
              <a:t>Page</a:t>
            </a:r>
          </a:p>
        </p:txBody>
      </p:sp>
      <p:grpSp>
        <p:nvGrpSpPr>
          <p:cNvPr id="16" name="Group 16"/>
          <p:cNvGrpSpPr/>
          <p:nvPr/>
        </p:nvGrpSpPr>
        <p:grpSpPr>
          <a:xfrm>
            <a:off x="16543936" y="646641"/>
            <a:ext cx="822187" cy="822187"/>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3E61"/>
            </a:solidFill>
          </p:spPr>
          <p:txBody>
            <a:bodyPr/>
            <a:lstStyle/>
            <a:p>
              <a:endParaRPr lang="en-GB"/>
            </a:p>
          </p:txBody>
        </p:sp>
        <p:sp>
          <p:nvSpPr>
            <p:cNvPr id="18" name="TextBox 18"/>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9" name="TextBox 19"/>
          <p:cNvSpPr txBox="1"/>
          <p:nvPr/>
        </p:nvSpPr>
        <p:spPr>
          <a:xfrm>
            <a:off x="16572511" y="818579"/>
            <a:ext cx="749445" cy="547116"/>
          </a:xfrm>
          <a:prstGeom prst="rect">
            <a:avLst/>
          </a:prstGeom>
        </p:spPr>
        <p:txBody>
          <a:bodyPr lIns="0" tIns="0" rIns="0" bIns="0" rtlCol="0" anchor="t">
            <a:spAutoFit/>
          </a:bodyPr>
          <a:lstStyle/>
          <a:p>
            <a:pPr algn="ctr">
              <a:lnSpc>
                <a:spcPts val="4211"/>
              </a:lnSpc>
            </a:pPr>
            <a:r>
              <a:rPr lang="en-US" sz="3599">
                <a:solidFill>
                  <a:srgbClr val="FFFFFF"/>
                </a:solidFill>
                <a:latin typeface="Extenda 90 Exa"/>
                <a:ea typeface="Extenda 90 Exa"/>
                <a:cs typeface="Extenda 90 Exa"/>
                <a:sym typeface="Extenda 90 Exa"/>
              </a:rPr>
              <a:t>09</a:t>
            </a:r>
          </a:p>
        </p:txBody>
      </p:sp>
      <p:sp>
        <p:nvSpPr>
          <p:cNvPr id="20" name="Freeform 20"/>
          <p:cNvSpPr/>
          <p:nvPr/>
        </p:nvSpPr>
        <p:spPr>
          <a:xfrm>
            <a:off x="756844" y="1640756"/>
            <a:ext cx="3142583" cy="3051162"/>
          </a:xfrm>
          <a:custGeom>
            <a:avLst/>
            <a:gdLst/>
            <a:ahLst/>
            <a:cxnLst/>
            <a:rect l="l" t="t" r="r" b="b"/>
            <a:pathLst>
              <a:path w="3142583" h="3051162">
                <a:moveTo>
                  <a:pt x="0" y="0"/>
                </a:moveTo>
                <a:lnTo>
                  <a:pt x="3142582" y="0"/>
                </a:lnTo>
                <a:lnTo>
                  <a:pt x="3142582" y="3051162"/>
                </a:lnTo>
                <a:lnTo>
                  <a:pt x="0" y="305116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GB"/>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541</TotalTime>
  <Words>726</Words>
  <Application>Microsoft Office PowerPoint</Application>
  <PresentationFormat>Custom</PresentationFormat>
  <Paragraphs>69</Paragraphs>
  <Slides>9</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Extenda 90 Exa</vt:lpstr>
      <vt:lpstr>Aptos</vt:lpstr>
      <vt:lpstr>Arial</vt:lpstr>
      <vt:lpstr>TT Fors Bold</vt:lpstr>
      <vt:lpstr>Calibri</vt:lpstr>
      <vt:lpstr>TT Fors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OOP</dc:title>
  <cp:lastModifiedBy>Shashant Vairamuthu</cp:lastModifiedBy>
  <cp:revision>4</cp:revision>
  <dcterms:created xsi:type="dcterms:W3CDTF">2006-08-16T00:00:00Z</dcterms:created>
  <dcterms:modified xsi:type="dcterms:W3CDTF">2026-10-22T23:29:07Z</dcterms:modified>
  <dc:identifier>DAHYG5g6rCE</dc:identifier>
</cp:coreProperties>
</file>